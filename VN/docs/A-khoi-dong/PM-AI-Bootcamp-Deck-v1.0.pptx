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Trọng số %</c:v>
                </c:pt>
              </c:strCache>
            </c:strRef>
          </c:tx>
          <c:spPr>
            <a:solidFill>
              <a:srgbClr val="1D4E89">
                <a:alpha val="100000"/>
              </a:srgbClr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7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Running Customer Zero</c:v>
                  </c:pt>
                  <c:pt idx="1">
                    <c:v>Dev Book</c:v>
                  </c:pt>
                  <c:pt idx="2">
                    <c:v>WBS + Estimation</c:v>
                  </c:pt>
                  <c:pt idx="3">
                    <c:v>Delegation Map</c:v>
                  </c:pt>
                  <c:pt idx="4">
                    <c:v>Dashboard telemetry</c:v>
                  </c:pt>
                  <c:pt idx="5">
                    <c:v>Case study</c:v>
                  </c:pt>
                  <c:pt idx="6">
                    <c:v>Plan / Video demo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25</c:v>
                </c:pt>
                <c:pt idx="1">
                  <c:v>20</c:v>
                </c:pt>
                <c:pt idx="2">
                  <c:v>15</c:v>
                </c:pt>
                <c:pt idx="3">
                  <c:v>15</c:v>
                </c:pt>
                <c:pt idx="4">
                  <c:v>15</c:v>
                </c:pt>
                <c:pt idx="5">
                  <c:v>5</c:v>
                </c:pt>
                <c:pt idx="6">
                  <c:v>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A27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A27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Mở đầu: chương trình biến 300 PM thành AI-Native PM. Nhấn 3 trụ triết lý Human-led, AI-first, Outcome-first. Đây KHÔNG phải khoá 'dùng ChatGPT' mà là điều hành dự án với AI là lực lượng sản xuất mặc định.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Thông điệp lõi: phân biệt AI-Native PM với 'PM biết ChatGPT'. Bên trái là anti-pattern, bên phải là năng lực đích. Rubber-stamping (duyệt bừa) là rủi ro mới nguy hơn cả thiếu người.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Đối tượng 300 PM. Đích năng lực = CASAN Cấp 2, nhóm nòng cốt lên 3-4. Ba nhóm output: năng lực / sản phẩm chạy được / chứng chỉ. Nhấn: không cần biết code trước.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 trụ triết lý. Human-led = người chịu trách nhiệm. AI-first = AI làm trước, người chốt. Outcome-first = đo kết quả không đo hoạt động. Ẩn dụ cặp PM+AI: nhạc trưởng và dàn nhạc.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CASAN 5 cấp, tên chuẩn C-A-S-A-N. Đưa toàn bộ 300 PM lên Cấp 2 (Augmented) vững (ô cam), nhóm nòng cốt chạm Cấp 3-4. Bậc thang thể hiện độ trưởng thành tăng dần.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Delegation là quan trọng nhất. Thang L0-L5 đo độ tự chủ; Leash A/A+ là 2 nấc dùng hằng ngày cắt ra từ đó (A=L3, A+=L4). Phân biệt rõ với Harness (bộ đồ nghề kỹ thuật) qua ẩn dụ ngựa-kéo-xe.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Điểm nhấn mới: Claude Code dùng như SUPER ORCHESTRATOR ở mọi bước. Vòng lặp 7 bước Context-Plan-Delegate-Execute-Gate-Log-lặp. Giao 1 mục tiêu, nó tự làm trọn bước. Càng tự chủ nhiều thì cổng càng chặt. Có guide sơ bộ phát cho học viên.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Governance: 3 cơ chế biến khẩu hiệu thành quy trình kiểm được: fail-closed gate, BUILT-flagged chờ duyệt, hard-stop. Nhấn mạnh rubber-stamping là rủi ro mới nguy nhất; rubric chấm phán đoán của người.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Cấu trúc 3 phase ~9 tuần, blended. Phase 1 mindset 1 ngày, Phase 2 hands-on 4 tuần, Phase 3 capstone 4 tuần. 3 cổng tốt nghiệp cứng: điểm + hệ thống chạy + viva.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một ngày: M1 tương lai nghề, M2 dịch chuyển tư duy, M3 CASAN self-assessment. Đầu ra: tự chấm cấp, chọn pilot, viết AI commitment.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2: 8 module (M5 Delegation là quan trọng nhất - ngôi sao). Learning by doing. 10 assignment trên dự án thật, nộp kèm telemetry, chấm rubric 0-4.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Capstone là trái tim chương trình: mỗi PM tự build một hệ thống chạy được (Customer Zero). Bằng chứng: hệ thống chạy + Dev Book + telemetry + viva. Đây là cơ chế chống chương trình tự rubber-stamp.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Đánh giá bằng deliverable, không thi. Trọng số: Customer Zero 25% + Dev Book 20% là lõi (45%). 3 cổng cứng bên phải. Trượt viva hoặc không có hệ thống chạy = chưa tốt nghiệp.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Phần thưởng kép: thưởng tiền mặt một lần (1M/2M/3M/5M, không phải điều chỉnh lương) + hạn mức Claude Code (đòn bẩy tiếp tục làm AI-native). 4 cấp Certified/Proficient/Distinction/Champion. Chỉ tính sau khi qua 3 cổng cứng. Con số chờ HR/BOD duyệt.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Mỗi KPI có công thức + nguồn + baseline + target (baseline đo ở W0). Nguyên tắc lớn nhất: đo giờ người thật, không suy giờ từ token. 2 chỉ số chữ ký (⭐): Nén = đòn bẩy báo lãnh đạo; Hiệu quả token = AI Economics. Đã đổi tên 'Forecast Accuracy' -&gt; 'Estimation Accuracy' (độ chính xác ước lượng, không phải forecast doanh số) và bỏ 'Proposal Lead Time' (KPI sales, trùng Planning Lead Time). KPI chương trình ở band dưới.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Chương trình dùng chung cho SA/BA/Dev: 60-70% là Common Core, chỉ swap workbook + rubric + đầu ra Customer Zero theo nghề. Đã có 4 workbook. 6 đề chung dùng lại được, cohort trộn nghề.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funnel: 300 -&gt; 80 -&gt; 20 -&gt; 5. Wave 1 tất cả 300 học foundation; Wave 2 80 người pilot thật; Wave 3 20 champion; Wave 4 5 program leader. Chạy cuốn chiếu 10 cohort x 30.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Điều kiện tham gia: laptop cá nhân + học online; được cấp tài khoản Claude Code $30/tháng; thời gian dự kiến 2.5-3 tháng, dự phòng 1-3 tuần vì Coach có thể bận. Chi phí tạm tính lớp 30: license 30x30x3 tháng = $2.700; coach 500K/h x 2h x 8 tuần = 8 triệu. Tổng ~78 triệu, ~2,6 triệu/học viên. Con số dự kiến, chờ HR/BOD duyệt.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Kết: bộ tài liệu đầy đủ, self-serve. Program + 4 workbook + orchestrator guide + operating model 1 trang + 6 briefs + glossary. Thông điệp đóng: đào tạo PM biết lái AI, không rubber-stamp.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Phụ lục glossary: 16 thuật ngữ cốt lõi trích từ 42 mục đầy đủ trong Program. Dùng để tra nhanh khi trình bày hoặc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Phụ lục viết tắt: giải nghĩa mọi acronym xuất hiện trong deck (AI, PM, BA, SA, Dev, SDLC, WBS, PRD, AC, ADR, NFR, ROI, KPI, MCP, PB, TB, HR/BOD, FPT/FSoft/AIX). Các khái niệm phương pháp luận nằm ở slide Glossary trước đó.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554480"/>
            <a:ext cx="5120640" cy="5120640"/>
          </a:xfrm>
          <a:prstGeom prst="ellipse">
            <a:avLst/>
          </a:prstGeom>
          <a:ln w="15875">
            <a:solidFill>
              <a:srgbClr val="3A76C4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784080" y="-640080"/>
            <a:ext cx="3291840" cy="3291840"/>
          </a:xfrm>
          <a:prstGeom prst="ellipse">
            <a:avLst/>
          </a:prstGeom>
          <a:ln w="19050">
            <a:solidFill>
              <a:srgbClr val="E07B29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561320" y="137160"/>
            <a:ext cx="1737360" cy="1737360"/>
          </a:xfrm>
          <a:prstGeom prst="ellipse">
            <a:avLst/>
          </a:prstGeom>
          <a:solidFill>
            <a:srgbClr val="E07B29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561320" y="13716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FSOFT AIX  ·  AI TRANSFORMATION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8686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 AI Bootcamp</a:t>
            </a:r>
            <a:endParaRPr lang="en-US" sz="6200" dirty="0"/>
          </a:p>
        </p:txBody>
      </p:sp>
      <p:sp>
        <p:nvSpPr>
          <p:cNvPr id="8" name="Text 6"/>
          <p:cNvSpPr/>
          <p:nvPr/>
        </p:nvSpPr>
        <p:spPr>
          <a:xfrm>
            <a:off x="548640" y="30632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9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Chương trình AI PM Transformation — v1.0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3794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Biến 300 Project Manager thành thế hệ AI-Native PM — không phải “PM biết dùng ChatGPT”.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709160"/>
            <a:ext cx="5669280" cy="548640"/>
          </a:xfrm>
          <a:prstGeom prst="roundRect">
            <a:avLst>
              <a:gd name="adj" fmla="val 50000"/>
            </a:avLst>
          </a:prstGeom>
          <a:solidFill>
            <a:srgbClr val="1D4E89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48640" y="470916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Human-led   ·   AI-first   ·   Outcome-first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liệu trình bày tóm tắt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— NGHỀ PM ĐANG ĐỔI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Đào tạo “AI-Native PM”, không phải “PM biết ChatGPT”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206240"/>
          </a:xfrm>
          <a:prstGeom prst="roundRect">
            <a:avLst>
              <a:gd name="adj" fmla="val 1957"/>
            </a:avLst>
          </a:prstGeom>
          <a:solidFill>
            <a:srgbClr val="FBECDB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1920240"/>
            <a:ext cx="548640" cy="548640"/>
          </a:xfrm>
          <a:prstGeom prst="ellipse">
            <a:avLst/>
          </a:prstGeom>
          <a:solidFill>
            <a:srgbClr val="E07B2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192024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7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KHÔNG đào tạo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46177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chỉ “biết dùng ChatGPT” để hỏi–đáp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thuần tuý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Dán AI lên quy trình cũ, không thiết kế lại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 bừa output AI (rubber-stamping)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55080" y="1600200"/>
            <a:ext cx="5349240" cy="4206240"/>
          </a:xfrm>
          <a:prstGeom prst="roundRect">
            <a:avLst>
              <a:gd name="adj" fmla="val 1957"/>
            </a:avLst>
          </a:prstGeom>
          <a:solidFill>
            <a:srgbClr val="E9F1FB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675120" y="1920240"/>
            <a:ext cx="548640" cy="548640"/>
          </a:xfrm>
          <a:prstGeom prst="ellipse">
            <a:avLst/>
          </a:prstGeom>
          <a:solidFill>
            <a:srgbClr val="1D4E89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60920" y="192024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4E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ĐÀO TẠO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720840" y="2743200"/>
            <a:ext cx="46177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hành dự án AI-first (AI là lực lượng sản xuất mặc định)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tay lái AI build &amp; vận hành hệ thống thật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Ủy quyền có kiểm soát + Governance (cổng, audit)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 bằng dữ liệu &amp; ROI — và KHÔNG rubber-stamp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AI Bootcamp v1.0  ·  AI PM Transformation Program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&amp; ĐỐI TƯỢNG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200-300 PM → đạt CASAN Cấp 2 (Augmented) vững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743200" cy="1737360"/>
          </a:xfrm>
          <a:prstGeom prst="roundRect">
            <a:avLst>
              <a:gd name="adj" fmla="val 4737"/>
            </a:avLst>
          </a:prstGeom>
          <a:solidFill>
            <a:srgbClr val="12294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8745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200-300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9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611880"/>
            <a:ext cx="2743200" cy="1737360"/>
          </a:xfrm>
          <a:prstGeom prst="roundRect">
            <a:avLst>
              <a:gd name="adj" fmla="val 4737"/>
            </a:avLst>
          </a:prstGeom>
          <a:solidFill>
            <a:srgbClr val="1D4E8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48640" y="37490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Cấp 2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48640" y="4617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9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 — nòng cốt chạm Cấp 3–4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566160" y="1645920"/>
            <a:ext cx="2538984" cy="2788920"/>
          </a:xfrm>
          <a:prstGeom prst="roundRect">
            <a:avLst>
              <a:gd name="adj" fmla="val 32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566160" y="1645920"/>
            <a:ext cx="2538984" cy="640080"/>
          </a:xfrm>
          <a:prstGeom prst="roundRect">
            <a:avLst>
              <a:gd name="adj" fmla="val 12857"/>
            </a:avLst>
          </a:prstGeom>
          <a:solidFill>
            <a:srgbClr val="E07B29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794760" y="1645920"/>
            <a:ext cx="2081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Năng lực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840480" y="2514600"/>
            <a:ext cx="19903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Lái AI build + vận hành + quản trị governance + đo ROI — không rubber-stamp.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333744" y="1645920"/>
            <a:ext cx="2538984" cy="2788920"/>
          </a:xfrm>
          <a:prstGeom prst="roundRect">
            <a:avLst>
              <a:gd name="adj" fmla="val 32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333744" y="1645920"/>
            <a:ext cx="2538984" cy="640080"/>
          </a:xfrm>
          <a:prstGeom prst="roundRect">
            <a:avLst>
              <a:gd name="adj" fmla="val 12857"/>
            </a:avLst>
          </a:prstGeom>
          <a:solidFill>
            <a:srgbClr val="1D4E89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562344" y="1645920"/>
            <a:ext cx="2081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Sản phẩm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608064" y="2514600"/>
            <a:ext cx="19903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hệ thống lát cắt CHẠY ĐƯỢC (Customer Zero) + Dev Book + telemetry thật.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9101328" y="1645920"/>
            <a:ext cx="2538984" cy="2788920"/>
          </a:xfrm>
          <a:prstGeom prst="roundRect">
            <a:avLst>
              <a:gd name="adj" fmla="val 32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101328" y="1645920"/>
            <a:ext cx="2538984" cy="640080"/>
          </a:xfrm>
          <a:prstGeom prst="roundRect">
            <a:avLst>
              <a:gd name="adj" fmla="val 12857"/>
            </a:avLst>
          </a:prstGeom>
          <a:solidFill>
            <a:srgbClr val="12294D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329928" y="1645920"/>
            <a:ext cx="2081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Chứng chỉ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375648" y="2514600"/>
            <a:ext cx="19903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PM — Certified / Distinction, kèm thưởng theo cấp.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3566160" y="4663440"/>
            <a:ext cx="8074152" cy="1143000"/>
          </a:xfrm>
          <a:prstGeom prst="roundRect">
            <a:avLst>
              <a:gd name="adj" fmla="val 7200"/>
            </a:avLst>
          </a:prstGeom>
          <a:solidFill>
            <a:srgbClr val="E9F1FB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886200" y="4663440"/>
            <a:ext cx="74340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mang theo khi vào khoá:  </a:t>
            </a:r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dự án thật (hoặc 1 trong 6 đề mẫu)  ·  tài khoản AI Coding Agent + môi trường an toàn dữ liệu  ·  cam kết 5 tuần.  Không cần biết code trước — nhưng phải sẵn sàng tự tay làm &amp; trải nghiệm &amp; sửa sai.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AI Bootcamp v1.0  ·  AI PM Transformation Program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TRIẾT LÝ XUYÊN SUỐT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Human-led  ·  AI-first  ·  Outcome-first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392424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103120"/>
            <a:ext cx="685800" cy="685800"/>
          </a:xfrm>
          <a:prstGeom prst="ellipse">
            <a:avLst/>
          </a:prstGeom>
          <a:solidFill>
            <a:srgbClr val="12294D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21031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2843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Human-led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2843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dẫn dắt, quyết định và chịu trách nhiệm outcome. AI không tự quyết việc rủi ro.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98264" y="1783080"/>
            <a:ext cx="3392424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718304" y="2103120"/>
            <a:ext cx="685800" cy="685800"/>
          </a:xfrm>
          <a:prstGeom prst="ellipse">
            <a:avLst/>
          </a:prstGeom>
          <a:solidFill>
            <a:srgbClr val="1D4E89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718304" y="21031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72584" y="2971800"/>
            <a:ext cx="2843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4E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AI-first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72584" y="3566160"/>
            <a:ext cx="2843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làm trước (draft/thực thi), người review &amp; chốt — vòng lặp lặp lại. AI là lực lượng sản xuất mặc định.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247888" y="1783080"/>
            <a:ext cx="3392424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567928" y="2103120"/>
            <a:ext cx="685800" cy="685800"/>
          </a:xfrm>
          <a:prstGeom prst="ellipse">
            <a:avLst/>
          </a:prstGeom>
          <a:solidFill>
            <a:srgbClr val="E07B29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567928" y="21031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22208" y="2971800"/>
            <a:ext cx="2843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7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Outcome-first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522208" y="3566160"/>
            <a:ext cx="2843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Lấy kết quả (delivery · quality · margin) làm trung tâm, không lấy hoạt động / công cụ / số prompt.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48640" y="5074920"/>
            <a:ext cx="11091672" cy="1005840"/>
          </a:xfrm>
          <a:prstGeom prst="roundRect">
            <a:avLst>
              <a:gd name="adj" fmla="val 8182"/>
            </a:avLst>
          </a:prstGeom>
          <a:solidFill>
            <a:srgbClr val="E9F1FB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68680" y="5074920"/>
            <a:ext cx="10451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vận hành:  </a:t>
            </a:r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cặp (PM + AI) — PM là nhạc trưởng, AI là dàn nhạc. PM chỉ huy + phán xử, không tự chơi làm những thứ mà AI có thể làm.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AI Bootcamp v1.0  ·  AI PM Transformation Program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KHUNG NĂNG LỰC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CASAN AI Maturity — 5 cấp (chuẩn FPT)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4114800"/>
            <a:ext cx="2084832" cy="1691640"/>
          </a:xfrm>
          <a:prstGeom prst="roundRect">
            <a:avLst>
              <a:gd name="adj" fmla="val 4865"/>
            </a:avLst>
          </a:prstGeom>
          <a:solidFill>
            <a:srgbClr val="1D4E8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4251960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Cấp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4535424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Curious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4974336"/>
            <a:ext cx="171907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AI lẻ tẻ, không đo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926080" y="3493008"/>
            <a:ext cx="2084832" cy="2313432"/>
          </a:xfrm>
          <a:prstGeom prst="roundRect">
            <a:avLst>
              <a:gd name="adj" fmla="val 3947"/>
            </a:avLst>
          </a:prstGeom>
          <a:solidFill>
            <a:srgbClr val="E07B2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108960" y="3630168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Cấp 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08960" y="3913632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Augmented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108960" y="4352544"/>
            <a:ext cx="1719072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tăng cường, gắn quy trình + telemetry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880360" y="2990088"/>
            <a:ext cx="2176272" cy="411480"/>
          </a:xfrm>
          <a:prstGeom prst="roundRect">
            <a:avLst>
              <a:gd name="adj" fmla="val 22222"/>
            </a:avLst>
          </a:prstGeom>
          <a:solidFill>
            <a:srgbClr val="12294D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880360" y="2990088"/>
            <a:ext cx="21762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MỤC TIÊU 200-300 PM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20640" y="2871216"/>
            <a:ext cx="2084832" cy="2935224"/>
          </a:xfrm>
          <a:prstGeom prst="roundRect">
            <a:avLst>
              <a:gd name="adj" fmla="val 3947"/>
            </a:avLst>
          </a:prstGeom>
          <a:solidFill>
            <a:srgbClr val="1D4E8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303520" y="3008376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Cấp 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03520" y="329184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03520" y="3730752"/>
            <a:ext cx="171907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AI-first chuẩn hoá toàn đội + governance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315200" y="2249424"/>
            <a:ext cx="2084832" cy="3557016"/>
          </a:xfrm>
          <a:prstGeom prst="roundRect">
            <a:avLst>
              <a:gd name="adj" fmla="val 3947"/>
            </a:avLst>
          </a:prstGeom>
          <a:solidFill>
            <a:srgbClr val="1D4E8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498080" y="2386584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Cấp 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98080" y="2670048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498080" y="3108960"/>
            <a:ext cx="1719072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vận hành workflow có kiểm soát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509760" y="1627632"/>
            <a:ext cx="2084832" cy="4178808"/>
          </a:xfrm>
          <a:prstGeom prst="roundRect">
            <a:avLst>
              <a:gd name="adj" fmla="val 3947"/>
            </a:avLst>
          </a:prstGeom>
          <a:solidFill>
            <a:srgbClr val="1D4E8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692640" y="176479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Cấp 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92640" y="2048256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692640" y="2487168"/>
            <a:ext cx="1719072" cy="3209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toàn vòng đời, quy mô lớn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58978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– A – S – A – N   =   Curious · Augmented · Standard · Automated · Native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AI Bootcamp v1.0  ·  AI PM Transformation Program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QUAN TRỌNG NHẤT — AI DELEGATION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Ủy quyền có kiểm soát: L0–L5 &amp; “dây cương” A / A+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93776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8745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Thang ủy quyền L0 → L5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2350008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1D4E89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235000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00200" y="235000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— quan sát, không đổi gì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2916936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1D4E89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2960" y="291693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291693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— nháp, người duyệt 100%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483864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1D4E89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22960" y="3483864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00200" y="348386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— đề xuất phương án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4050792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E07B29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2960" y="405079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00200" y="405079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(bounded) — làm việc rủi ro thấp  ◀ A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4617720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E07B29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22960" y="46177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00200" y="46177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workflow — vận hành cả luồng  ◀ A+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22960" y="5184648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1D4E89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22960" y="518464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600200" y="518464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— rủi ro cao (cố ý chưa cấp)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943600" y="1691640"/>
            <a:ext cx="5696712" cy="1600200"/>
          </a:xfrm>
          <a:prstGeom prst="roundRect">
            <a:avLst>
              <a:gd name="adj" fmla="val 5143"/>
            </a:avLst>
          </a:prstGeom>
          <a:solidFill>
            <a:srgbClr val="E9F1FB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217920" y="1856232"/>
            <a:ext cx="5148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E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“Dây cương” vận hành hằng ngày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17920" y="2258568"/>
            <a:ext cx="51480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(≈ L3): </a:t>
            </a:r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tới bản nháp — KHÔNG tự đẩy/merge.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E0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A+ (≈ L4): </a:t>
            </a:r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việc rủi ro cao — bắt buộc qua cổng bảo mật + người duyệt.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943600" y="3474720"/>
            <a:ext cx="5696712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217920" y="3611880"/>
            <a:ext cx="5148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Đừng nhầm 3 trục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17920" y="4078224"/>
            <a:ext cx="146304" cy="146304"/>
          </a:xfrm>
          <a:prstGeom prst="ellipse">
            <a:avLst/>
          </a:prstGeom>
          <a:solidFill>
            <a:srgbClr val="1D4E89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492240" y="4023360"/>
            <a:ext cx="4873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L0–L5 / Leash: </a:t>
            </a:r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tự chủ — “AI được tự chạy xa tới đâu”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217920" y="4645152"/>
            <a:ext cx="146304" cy="146304"/>
          </a:xfrm>
          <a:prstGeom prst="ellipse">
            <a:avLst/>
          </a:prstGeom>
          <a:solidFill>
            <a:srgbClr val="E07B29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492240" y="4590288"/>
            <a:ext cx="4873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Harness: </a:t>
            </a:r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đồ nghề kỹ thuật quanh model (tầng kỹ sư)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217920" y="5212080"/>
            <a:ext cx="146304" cy="146304"/>
          </a:xfrm>
          <a:prstGeom prst="ellipse">
            <a:avLst/>
          </a:prstGeom>
          <a:solidFill>
            <a:srgbClr val="12294D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492240" y="5157216"/>
            <a:ext cx="4873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Mẹo ngựa–xe: </a:t>
            </a:r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= yên cương (trang bị) · Leash (dây cương) = cấp độ tự chủ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AI Bootcamp v1.0  ·  AI PM Transformation Program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CỤ XUYÊN SUỐT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Coding Agent = “Super Orchestrator”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dùng AI như chatbot hỏi–đáp — dùng như nhạc trưởng điều phối, làm TRỌN từng bước. Học viên chỉ huy + phán quyết + chịu trách nhiệm.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1481328" cy="1417320"/>
          </a:xfrm>
          <a:prstGeom prst="roundRect">
            <a:avLst>
              <a:gd name="adj" fmla="val 5806"/>
            </a:avLst>
          </a:prstGeom>
          <a:solidFill>
            <a:srgbClr val="1D4E8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5800" y="26243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" y="297180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nạp bối cảnh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29968" y="2514600"/>
            <a:ext cx="1203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150364" y="2514600"/>
            <a:ext cx="1481328" cy="1417320"/>
          </a:xfrm>
          <a:prstGeom prst="roundRect">
            <a:avLst>
              <a:gd name="adj" fmla="val 5806"/>
            </a:avLst>
          </a:prstGeom>
          <a:solidFill>
            <a:srgbClr val="1D4E8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287524" y="26243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260092" y="297180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241804" y="338328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lập kế hoạch, chờ duyệt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31692" y="2514600"/>
            <a:ext cx="1203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752088" y="2514600"/>
            <a:ext cx="1481328" cy="1417320"/>
          </a:xfrm>
          <a:prstGeom prst="roundRect">
            <a:avLst>
              <a:gd name="adj" fmla="val 5806"/>
            </a:avLst>
          </a:prstGeom>
          <a:solidFill>
            <a:srgbClr val="1D4E8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889248" y="26243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861816" y="297180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Delegate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843528" y="338328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cắm ranh giới A/A+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33416" y="2514600"/>
            <a:ext cx="1203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353812" y="2514600"/>
            <a:ext cx="1481328" cy="1417320"/>
          </a:xfrm>
          <a:prstGeom prst="roundRect">
            <a:avLst>
              <a:gd name="adj" fmla="val 5806"/>
            </a:avLst>
          </a:prstGeom>
          <a:solidFill>
            <a:srgbClr val="1D4E8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490972" y="26243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63540" y="297180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45252" y="338328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chạy trọn bước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35140" y="2514600"/>
            <a:ext cx="1203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955536" y="2514600"/>
            <a:ext cx="1481328" cy="1417320"/>
          </a:xfrm>
          <a:prstGeom prst="roundRect">
            <a:avLst>
              <a:gd name="adj" fmla="val 5806"/>
            </a:avLst>
          </a:prstGeom>
          <a:solidFill>
            <a:srgbClr val="E07B2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092696" y="26243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065264" y="297180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46976" y="338328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436864" y="2514600"/>
            <a:ext cx="1203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8557260" y="2514600"/>
            <a:ext cx="1481328" cy="1417320"/>
          </a:xfrm>
          <a:prstGeom prst="roundRect">
            <a:avLst>
              <a:gd name="adj" fmla="val 5806"/>
            </a:avLst>
          </a:prstGeom>
          <a:solidFill>
            <a:srgbClr val="E07B2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694420" y="26243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666988" y="297180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648700" y="338328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Book + telemetry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038588" y="2514600"/>
            <a:ext cx="1203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10158984" y="2514600"/>
            <a:ext cx="1481328" cy="1417320"/>
          </a:xfrm>
          <a:prstGeom prst="roundRect">
            <a:avLst>
              <a:gd name="adj" fmla="val 5806"/>
            </a:avLst>
          </a:prstGeom>
          <a:solidFill>
            <a:srgbClr val="3A76C4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10296144" y="26243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0268712" y="297180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Lặp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250424" y="338328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tiếp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8640" y="4343400"/>
            <a:ext cx="5317236" cy="1371600"/>
          </a:xfrm>
          <a:prstGeom prst="roundRect">
            <a:avLst>
              <a:gd name="adj" fmla="val 6000"/>
            </a:avLst>
          </a:prstGeom>
          <a:solidFill>
            <a:srgbClr val="1B3A63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868680" y="4526280"/>
            <a:ext cx="4677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MỤC TIÊU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thay cho 10 thao tác nhỏ.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868680" y="5001768"/>
            <a:ext cx="46771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9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 tự đọc file · chạy lệnh · gọi tool (MCP) · sinh subagent chạy song song · tự kiểm.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6323076" y="4343400"/>
            <a:ext cx="5317236" cy="1371600"/>
          </a:xfrm>
          <a:prstGeom prst="roundRect">
            <a:avLst>
              <a:gd name="adj" fmla="val 6000"/>
            </a:avLst>
          </a:prstGeom>
          <a:solidFill>
            <a:srgbClr val="5A3212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643116" y="4526280"/>
            <a:ext cx="4677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Càng để tự chạy nhiều bước, cổng kiểm càng phải chặt.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643116" y="5001768"/>
            <a:ext cx="46771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không phải để buông tay — mà để tập trung vào việc phán quyết.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sơ bộ cho học viên: PM-AI-Bootcamp-ClaudeCode-Orchestrator-Guide-v1.0.md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cơ chế cụ thể + chống rubber-stamping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392424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737360"/>
            <a:ext cx="3392424" cy="685800"/>
          </a:xfrm>
          <a:prstGeom prst="roundRect">
            <a:avLst>
              <a:gd name="adj" fmla="val 12000"/>
            </a:avLst>
          </a:prstGeom>
          <a:solidFill>
            <a:srgbClr val="1D4E8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37360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Cổng fail-closed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28437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AI chỉ dùng khi cổng kiểm tự động XANH. Không xác minh được = CHẶN (mặc định đóng), không “tạm cho qua”.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98264" y="1737360"/>
            <a:ext cx="3392424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398264" y="1737360"/>
            <a:ext cx="3392424" cy="685800"/>
          </a:xfrm>
          <a:prstGeom prst="roundRect">
            <a:avLst>
              <a:gd name="adj" fmla="val 12000"/>
            </a:avLst>
          </a:prstGeom>
          <a:solidFill>
            <a:srgbClr val="12294D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626864" y="1737360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BUILT-flagged — chờ duyệt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672584" y="2606040"/>
            <a:ext cx="28437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làm xong nhưng KHÔNG tự release. Việc rủi ro cao dừng ở “đã build, chờ người đích thân duyệt”.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47888" y="1737360"/>
            <a:ext cx="3392424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247888" y="1737360"/>
            <a:ext cx="3392424" cy="685800"/>
          </a:xfrm>
          <a:prstGeom prst="roundRect">
            <a:avLst>
              <a:gd name="adj" fmla="val 12000"/>
            </a:avLst>
          </a:prstGeom>
          <a:solidFill>
            <a:srgbClr val="E07B29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76488" y="1737360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Hard-stop khi mâu thuẫn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522208" y="2606040"/>
            <a:ext cx="28437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mâu thuẫn / mơ hồ → AI DỪNG &amp; phơi bày, không tự đoán. “AI dừng để hỏi” là tín hiệu TỐT.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091672" cy="1417320"/>
          </a:xfrm>
          <a:prstGeom prst="roundRect">
            <a:avLst>
              <a:gd name="adj" fmla="val 5806"/>
            </a:avLst>
          </a:prstGeom>
          <a:solidFill>
            <a:srgbClr val="FBECDB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68680" y="4892040"/>
            <a:ext cx="685800" cy="685800"/>
          </a:xfrm>
          <a:prstGeom prst="ellipse">
            <a:avLst/>
          </a:prstGeom>
          <a:solidFill>
            <a:srgbClr val="E07B29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68680" y="48920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737360" y="4846320"/>
            <a:ext cx="9628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7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Lằn ranh đỏ: chống Rubber-stamping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737360" y="5230368"/>
            <a:ext cx="9582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Nộp thứ AI làm mà không có dấu vết đã review/sửa = trượt, dù kết quả “đẹp”. Rubric chấm PHÁN ĐOÁN của người (số lần sửa AI), không chấm “AI trả lời hay”. Cổng gánh phần máy-kiểm-được; hazard người đích thân duyệt.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AI Bootcamp v1.0  ·  AI PM Transformation Program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TRÚC TỔNG THỂ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Phase · 5 tuần · blended (~30–40% quỹ thời gian)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209544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828800"/>
            <a:ext cx="3209544" cy="868680"/>
          </a:xfrm>
          <a:prstGeom prst="roundRect">
            <a:avLst>
              <a:gd name="adj" fmla="val 9474"/>
            </a:avLst>
          </a:prstGeom>
          <a:solidFill>
            <a:srgbClr val="1D4E8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938528"/>
            <a:ext cx="2752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267712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ngày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2660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4E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Mindset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703320"/>
            <a:ext cx="26609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 duy Human-led AI-first · CASAN · L0–L5 &amp; Leash · vì sao đo giờ thật.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758184" y="1828800"/>
            <a:ext cx="731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489704" y="1828800"/>
            <a:ext cx="3209544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489704" y="1828800"/>
            <a:ext cx="3209544" cy="868680"/>
          </a:xfrm>
          <a:prstGeom prst="roundRect">
            <a:avLst>
              <a:gd name="adj" fmla="val 9474"/>
            </a:avLst>
          </a:prstGeom>
          <a:solidFill>
            <a:srgbClr val="12294D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718304" y="1938528"/>
            <a:ext cx="2752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18304" y="2267712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tuần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64024" y="2880360"/>
            <a:ext cx="2660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64024" y="3703320"/>
            <a:ext cx="26609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bài tập + capstone + 10 assignment: đưa AI vào từng pha SDLC · Delegation Map · Governance · ROI.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699248" y="1828800"/>
            <a:ext cx="731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8430768" y="1828800"/>
            <a:ext cx="3209544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430768" y="1828800"/>
            <a:ext cx="3209544" cy="868680"/>
          </a:xfrm>
          <a:prstGeom prst="roundRect">
            <a:avLst>
              <a:gd name="adj" fmla="val 9474"/>
            </a:avLst>
          </a:prstGeom>
          <a:solidFill>
            <a:srgbClr val="E07B29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659368" y="1938528"/>
            <a:ext cx="2752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59368" y="2267712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tuần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705088" y="2880360"/>
            <a:ext cx="2660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07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Capstone: Build your Customer Zero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705088" y="3703320"/>
            <a:ext cx="26609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tay lái AI build 1 lát cắt dọc CHẠY ĐƯỢC + tự vận hành · Dev Book · viva.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E9F1FB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68680" y="5349240"/>
            <a:ext cx="10451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cổng tốt nghiệp CỨNG:  </a:t>
            </a:r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đủ điểm 6 trụ  ·  ② hệ thống CHẠY ĐƯỢC (demo trực tiếp)  ·  ③ qua viva. Thiếu 1 = chưa tốt nghiệp.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AI Bootcamp v1.0  ·  AI PM Transformation Program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 (1 GIỜ, TUẦN 1)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Đặt nền tư duy trước khi động tay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5836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04672" y="1897380"/>
            <a:ext cx="640080" cy="640080"/>
          </a:xfrm>
          <a:prstGeom prst="ellipse">
            <a:avLst/>
          </a:prstGeom>
          <a:solidFill>
            <a:srgbClr val="1D4E8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04672" y="18973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186537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of Software Engineering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645920" y="222199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· Agent · Agentic AI · AI Engineering; tương lai nghề PM.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65836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804672" y="3086100"/>
            <a:ext cx="640080" cy="640080"/>
          </a:xfrm>
          <a:prstGeom prst="ellipse">
            <a:avLst/>
          </a:prstGeom>
          <a:solidFill>
            <a:srgbClr val="1D4E89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04672" y="30861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45920" y="305409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Human-first → AI-first → Outcome-first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645920" y="341071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cần thay đổi gì; vẽ lại “một ngày của PM” theo AI-first.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65836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04672" y="4274820"/>
            <a:ext cx="640080" cy="640080"/>
          </a:xfrm>
          <a:prstGeom prst="ellipse">
            <a:avLst/>
          </a:prstGeom>
          <a:solidFill>
            <a:srgbClr val="1D4E89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04672" y="42748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45920" y="424281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CASAN AI Maturity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645920" y="459943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Self-assessment cá nhân + chấm cấp dự án hiện tại.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498080" y="1737360"/>
            <a:ext cx="4142232" cy="3703320"/>
          </a:xfrm>
          <a:prstGeom prst="roundRect">
            <a:avLst>
              <a:gd name="adj" fmla="val 2222"/>
            </a:avLst>
          </a:prstGeom>
          <a:solidFill>
            <a:srgbClr val="12294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818120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thúc ngày, mỗi PM có: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863840" y="2468880"/>
            <a:ext cx="341071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9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chấm cấp CASAN của bản thân &amp; dự án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9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đồ “một ngày của PM” theo AI-first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9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dự án pilot cho Capstone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9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“AI commitment” 1 trang cá nhân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9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learning pack + lịch 4 tuần Phase 2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AI Bootcamp v1.0  ·  AI PM Transformation Program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TẬP EX-01→EX-06 (TUẦN 1–3)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bài tập + capstone + 10 assignment — Learning by Doing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51460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31520" y="1956816"/>
            <a:ext cx="566928" cy="566928"/>
          </a:xfrm>
          <a:prstGeom prst="ellipse">
            <a:avLst/>
          </a:prstGeom>
          <a:solidFill>
            <a:srgbClr val="1D4E8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19568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73736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Foundation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64408" y="1737360"/>
            <a:ext cx="251460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447288" y="1956816"/>
            <a:ext cx="566928" cy="566928"/>
          </a:xfrm>
          <a:prstGeom prst="ellipse">
            <a:avLst/>
          </a:prstGeom>
          <a:solidFill>
            <a:srgbClr val="1D4E89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47288" y="19568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33088" y="173736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Toolchain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80176" y="1737360"/>
            <a:ext cx="251460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163056" y="1956816"/>
            <a:ext cx="566928" cy="566928"/>
          </a:xfrm>
          <a:prstGeom prst="ellipse">
            <a:avLst/>
          </a:prstGeom>
          <a:solidFill>
            <a:srgbClr val="1D4E89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63056" y="19568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48856" y="173736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Project Workflow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695944" y="1737360"/>
            <a:ext cx="251460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878824" y="1956816"/>
            <a:ext cx="566928" cy="566928"/>
          </a:xfrm>
          <a:prstGeom prst="ellipse">
            <a:avLst/>
          </a:prstGeom>
          <a:solidFill>
            <a:srgbClr val="1D4E89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878824" y="19568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564624" y="173736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Prompting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2971800"/>
            <a:ext cx="2514600" cy="1005840"/>
          </a:xfrm>
          <a:prstGeom prst="roundRect">
            <a:avLst>
              <a:gd name="adj" fmla="val 8182"/>
            </a:avLst>
          </a:prstGeom>
          <a:solidFill>
            <a:srgbClr val="FBECDB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31520" y="3191256"/>
            <a:ext cx="566928" cy="566928"/>
          </a:xfrm>
          <a:prstGeom prst="ellipse">
            <a:avLst/>
          </a:prstGeom>
          <a:solidFill>
            <a:srgbClr val="E07B29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31520" y="31912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297180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Delegation ★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264408" y="2971800"/>
            <a:ext cx="251460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3447288" y="3191256"/>
            <a:ext cx="566928" cy="566928"/>
          </a:xfrm>
          <a:prstGeom prst="ellipse">
            <a:avLst/>
          </a:prstGeom>
          <a:solidFill>
            <a:srgbClr val="1D4E89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3447288" y="31912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133088" y="297180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Governance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980176" y="2971800"/>
            <a:ext cx="251460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163056" y="3191256"/>
            <a:ext cx="566928" cy="566928"/>
          </a:xfrm>
          <a:prstGeom prst="ellipse">
            <a:avLst/>
          </a:prstGeom>
          <a:solidFill>
            <a:srgbClr val="1D4E89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163056" y="31912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48856" y="297180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Telemetry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695944" y="2971800"/>
            <a:ext cx="251460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8878824" y="3191256"/>
            <a:ext cx="566928" cy="566928"/>
          </a:xfrm>
          <a:prstGeom prst="ellipse">
            <a:avLst/>
          </a:prstGeom>
          <a:solidFill>
            <a:srgbClr val="1D4E89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8878824" y="31912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M8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564624" y="297180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Economics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48640" y="4251960"/>
            <a:ext cx="11091672" cy="1417320"/>
          </a:xfrm>
          <a:prstGeom prst="roundRect">
            <a:avLst>
              <a:gd name="adj" fmla="val 5806"/>
            </a:avLst>
          </a:prstGeom>
          <a:solidFill>
            <a:srgbClr val="E9F1FB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868680" y="4434840"/>
            <a:ext cx="104515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Nhịp tuần:  </a:t>
            </a:r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 Requirement · W2 WBS/Estimation/Risk · W3 Delegation &amp; Governance · W4 Telemetry &amp; ROI. Mỗi tuần có clinic 2h/tuần.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Assignment:  </a:t>
            </a:r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task trên dự án thật, mỗi bài nộp artefact + prompt + telemetry, chấm rubric 0–4. Qua Phase 2: ≥9/10 ở mức ≥2 (T5 Risk &amp; T10 Dashboard bắt buộc).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AI Bootcamp v1.0  ·  AI PM Transformation Program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(TUẦN 4–5)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your Customer Zero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9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“Không có pilot — không tốt nghiệp.” Pilot KHÔNG phải xấp tài liệu AI sinh, mà là HỆ THỐNG CHẠY ĐƯỢC do chính PM tự lái AI build, rồi tự mình dùng.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392424" cy="2743200"/>
          </a:xfrm>
          <a:prstGeom prst="roundRect">
            <a:avLst>
              <a:gd name="adj" fmla="val 3000"/>
            </a:avLst>
          </a:prstGeom>
          <a:solidFill>
            <a:srgbClr val="1B3A63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2606040"/>
            <a:ext cx="594360" cy="594360"/>
          </a:xfrm>
          <a:prstGeom prst="ellipse">
            <a:avLst/>
          </a:prstGeom>
          <a:solidFill>
            <a:srgbClr val="E07B29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26060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337560"/>
            <a:ext cx="2843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Tự build — để HIỂU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3886200"/>
            <a:ext cx="2843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9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Hiểu sâu không đến từ bản plan mà từ lúc tay làm &amp; vấp: gặp cổng chặn, hard-stop, AI sai phải sửa.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98264" y="2331720"/>
            <a:ext cx="3392424" cy="2743200"/>
          </a:xfrm>
          <a:prstGeom prst="roundRect">
            <a:avLst>
              <a:gd name="adj" fmla="val 3000"/>
            </a:avLst>
          </a:prstGeom>
          <a:solidFill>
            <a:srgbClr val="1B3A63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672584" y="2606040"/>
            <a:ext cx="594360" cy="594360"/>
          </a:xfrm>
          <a:prstGeom prst="ellipse">
            <a:avLst/>
          </a:prstGeom>
          <a:solidFill>
            <a:srgbClr val="E07B29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672584" y="26060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72584" y="3337560"/>
            <a:ext cx="2843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Bằng chứng bắt buộc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72584" y="3886200"/>
            <a:ext cx="2843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9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chạy + Dev Book (AI-sai → PM-sửa) + telemetry tay-làm + operating log.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47888" y="2331720"/>
            <a:ext cx="3392424" cy="2743200"/>
          </a:xfrm>
          <a:prstGeom prst="roundRect">
            <a:avLst>
              <a:gd name="adj" fmla="val 3000"/>
            </a:avLst>
          </a:prstGeom>
          <a:solidFill>
            <a:srgbClr val="1B3A63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522208" y="2606040"/>
            <a:ext cx="594360" cy="594360"/>
          </a:xfrm>
          <a:prstGeom prst="ellipse">
            <a:avLst/>
          </a:prstGeom>
          <a:solidFill>
            <a:srgbClr val="E07B29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522208" y="26060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22208" y="3337560"/>
            <a:ext cx="2843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Viva bảo vệ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522208" y="3886200"/>
            <a:ext cx="2843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9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 bày &amp; trả lời trước Coach. Trượt viva hoặc không có hệ thống chạy = chưa tốt nghiệp dù điểm cao.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5A3212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68680" y="5349240"/>
            <a:ext cx="10451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sao?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artefact Phase 2 AI Coding Agent sinh trong vài phút — nếu chỉ đọc lướt &amp; bấm duyệt thì chương trình tự tái tạo đúng rubber-stamping. Mỗi PM phải là Customer Zero của chính lát hệ thống mình dựng.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AI Bootcamp v1.0  ·  AI PM Transformation Program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 CUỐI KHOÁ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Chấm bằng deliverable có telemetry — không thi trắc nghiệm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67665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0644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Trọng số deliverable — track PM (lõi: Customer Zero + Dev Book = 45%)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589520" y="1737360"/>
            <a:ext cx="4050792" cy="4069080"/>
          </a:xfrm>
          <a:prstGeom prst="roundRect">
            <a:avLst>
              <a:gd name="adj" fmla="val 2032"/>
            </a:avLst>
          </a:prstGeom>
          <a:solidFill>
            <a:srgbClr val="12294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909560" y="1920240"/>
            <a:ext cx="3410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cổng tốt nghiệp cứng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955280" y="2468880"/>
            <a:ext cx="548640" cy="548640"/>
          </a:xfrm>
          <a:prstGeom prst="ellipse">
            <a:avLst/>
          </a:prstGeom>
          <a:solidFill>
            <a:srgbClr val="E07B29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795528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86800" y="2423160"/>
            <a:ext cx="2679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 bình 6 trụ năng lực ≥ 2.5 (không trụ nào = 0)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955280" y="3520440"/>
            <a:ext cx="548640" cy="548640"/>
          </a:xfrm>
          <a:prstGeom prst="ellipse">
            <a:avLst/>
          </a:prstGeom>
          <a:solidFill>
            <a:srgbClr val="E07B29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955280" y="3520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686800" y="3474720"/>
            <a:ext cx="2679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hệ thống CHẠY ĐƯỢC + Dev Book rõ chỗ AI-sai/PM-sửa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955280" y="4572000"/>
            <a:ext cx="548640" cy="548640"/>
          </a:xfrm>
          <a:prstGeom prst="ellipse">
            <a:avLst/>
          </a:prstGeom>
          <a:solidFill>
            <a:srgbClr val="E07B29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7955280" y="4572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686800" y="4526280"/>
            <a:ext cx="2679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 kiểm tra thực tế để bảo vệ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AI Bootcamp v1.0  ·  AI PM Transformation Program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CHỨNG CHỈ &amp;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Thưởng KÉP: thưởng tiền mặt một lần + hạn mức AI Coding Agent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114800"/>
                <a:gridCol w="2103120"/>
                <a:gridCol w="2039112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Cấp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Điều kiện đạt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Thưởng tiền mặt (dự kiến)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Hạn mức Claude Code / tháng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2294D"/>
                          </a:solidFill>
                        </a:rPr>
                        <a:t>①  Certified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733"/>
                          </a:solidFill>
                        </a:rPr>
                        <a:t>Tốt nghiệp chuẩn (3 cổng)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D4E89"/>
                          </a:solidFill>
                        </a:rPr>
                        <a:t>1M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07B29"/>
                          </a:solidFill>
                        </a:rPr>
                        <a:t>$50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2294D"/>
                          </a:solidFill>
                        </a:rPr>
                        <a:t>②  Proficient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733"/>
                          </a:solidFill>
                        </a:rPr>
                        <a:t>TB ≥3.0 + tay-làm rõ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D4E89"/>
                          </a:solidFill>
                        </a:rPr>
                        <a:t>2M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07B29"/>
                          </a:solidFill>
                        </a:rPr>
                        <a:t>$100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2294D"/>
                          </a:solidFill>
                        </a:rPr>
                        <a:t>③  Distinction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733"/>
                          </a:solidFill>
                        </a:rPr>
                        <a:t>TB ≥3.5 + ROI pilot dương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D4E89"/>
                          </a:solidFill>
                        </a:rPr>
                        <a:t>3M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07B29"/>
                          </a:solidFill>
                        </a:rPr>
                        <a:t>$200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2294D"/>
                          </a:solidFill>
                        </a:rPr>
                        <a:t>④  Champion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733"/>
                          </a:solidFill>
                        </a:rPr>
                        <a:t>Distinction + mentor wave sau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D4E89"/>
                          </a:solidFill>
                        </a:rPr>
                        <a:t>5M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07B29"/>
                          </a:solidFill>
                        </a:rPr>
                        <a:t>$500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FBECDB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868680" y="5349240"/>
            <a:ext cx="10451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tính khi đã qua 3 cổng tốt nghiệp cứng.  </a:t>
            </a:r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Thưởng = khoản tiền mặt một lần theo chính sách công ty (không phải điều chỉnh lương). Hạn mức AI Coding Agent = đòn bẩy để PM tiếp tục vận hành cặp (PM+AI) sau khoá. Con số minh hoạ — chờ HR/BOD duyệt.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AI Bootcamp v1.0  ·  AI PM Transformation Program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&amp; TELEMETRY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Đánh giá bằng dữ liệu — đo GIỜ THẬT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977640" cy="2971800"/>
          </a:xfrm>
          <a:prstGeom prst="roundRect">
            <a:avLst>
              <a:gd name="adj" fmla="val 2769"/>
            </a:avLst>
          </a:prstGeom>
          <a:solidFill>
            <a:srgbClr val="12294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41248" y="190195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nguyên tắc đo trung thực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77824" y="2359152"/>
            <a:ext cx="33832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 giờ người THẬT — token nhiều ≠ làm nhiều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 → reconcile: token ước tính, đối soát số thật sau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cả việc ngoài kế hoạch, tránh thổi phồng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2 chỉ số đắt nhất: Nén + Hiệu quả token</a:t>
            </a:r>
            <a:endParaRPr lang="en-US" sz="12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737360"/>
          <a:ext cx="6748272" cy="914400"/>
        </p:xfrm>
        <a:graphic>
          <a:graphicData uri="http://schemas.openxmlformats.org/drawingml/2006/table">
            <a:tbl>
              <a:tblPr/>
              <a:tblGrid>
                <a:gridCol w="2024482"/>
                <a:gridCol w="3509101"/>
                <a:gridCol w="1214689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đào tạo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Cách đo (công thức)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 Nén (Compression)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Giờ truyền thống ÷ giờ người thật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2×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 Hiệu quả token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 quy đổi giao ÷ Token tiêu (triệu)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Adoption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có gắn AI ÷ tổng task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60%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Estimation Accuracy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1 − |Actual − Estimate| ÷ Actual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80%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Rework Rate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Artefact làm lại ÷ tổng artefact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 20%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Planning Lead Time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Ngày ra WBS + estimation duyệt được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 30%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892040"/>
            <a:ext cx="11091672" cy="822960"/>
          </a:xfrm>
          <a:prstGeom prst="roundRect">
            <a:avLst>
              <a:gd name="adj" fmla="val 10000"/>
            </a:avLst>
          </a:prstGeom>
          <a:solidFill>
            <a:srgbClr val="E9F1FB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68680" y="4892040"/>
            <a:ext cx="10451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chương trình (300 PM):  </a:t>
            </a:r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80% PM tốt nghiệp (Wave 1)  ·  ≥ 50% pilot có ROI dương  ·  ≥ 20 AI Champion.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AI Bootcamp v1.0  ·  AI PM Transformation Program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CHỈ CHO PM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Core dùng chung + 4 track nghề mỏng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1508760"/>
          </a:xfrm>
          <a:prstGeom prst="roundRect">
            <a:avLst>
              <a:gd name="adj" fmla="val 5455"/>
            </a:avLst>
          </a:prstGeom>
          <a:solidFill>
            <a:srgbClr val="E9F1FB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874520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E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CORE  (~60–70% — dùng nguyên si cho cả 4 vai trò)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tư duy · CASAN · L0–L5 &amp; Leash A/A+ · Governance (fail-closed · BUILT-flagged · hard-stop) · chống rubber-stamping · Capstone “Build your Customer Zero” · viva · 3 cổng tốt nghiệp · cơ chế thưởng.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520440"/>
            <a:ext cx="2601468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48640" y="3520440"/>
            <a:ext cx="2601468" cy="594360"/>
          </a:xfrm>
          <a:prstGeom prst="roundRect">
            <a:avLst>
              <a:gd name="adj" fmla="val 13846"/>
            </a:avLst>
          </a:prstGeom>
          <a:solidFill>
            <a:srgbClr val="12294D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49808" y="3520440"/>
            <a:ext cx="22357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  (Start)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4233672"/>
            <a:ext cx="21442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tập lõi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" y="4489704"/>
            <a:ext cx="21442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WBS · Estimation · Risk · Delegation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77240" y="5184648"/>
            <a:ext cx="21442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Zero nộp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5440680"/>
            <a:ext cx="21442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Lát cắt dọc chạy + plan vận hành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378708" y="3520440"/>
            <a:ext cx="2601468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378708" y="3520440"/>
            <a:ext cx="2601468" cy="594360"/>
          </a:xfrm>
          <a:prstGeom prst="roundRect">
            <a:avLst>
              <a:gd name="adj" fmla="val 13846"/>
            </a:avLst>
          </a:prstGeom>
          <a:solidFill>
            <a:srgbClr val="1D4E89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579876" y="3520440"/>
            <a:ext cx="22357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  (Draft)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607308" y="4233672"/>
            <a:ext cx="21442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tập lõi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07308" y="4489704"/>
            <a:ext cx="21442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· User Story/AC · Process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607308" y="5184648"/>
            <a:ext cx="21442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Zero nộp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07308" y="5440680"/>
            <a:ext cx="21442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/ luồng nghiệp vụ chạy được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08776" y="3520440"/>
            <a:ext cx="2601468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208776" y="3520440"/>
            <a:ext cx="2601468" cy="594360"/>
          </a:xfrm>
          <a:prstGeom prst="roundRect">
            <a:avLst>
              <a:gd name="adj" fmla="val 13846"/>
            </a:avLst>
          </a:prstGeom>
          <a:solidFill>
            <a:srgbClr val="1D4E89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409944" y="3520440"/>
            <a:ext cx="22357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  (Draft)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437376" y="4233672"/>
            <a:ext cx="21442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tập lõi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37376" y="4489704"/>
            <a:ext cx="21442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+ ADR · NFR · Threat model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37376" y="5184648"/>
            <a:ext cx="21442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Zero nộp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37376" y="5440680"/>
            <a:ext cx="21442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slice CÓ kiến trúc thật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038844" y="3520440"/>
            <a:ext cx="2601468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9038844" y="3520440"/>
            <a:ext cx="2601468" cy="594360"/>
          </a:xfrm>
          <a:prstGeom prst="roundRect">
            <a:avLst>
              <a:gd name="adj" fmla="val 13846"/>
            </a:avLst>
          </a:prstGeom>
          <a:solidFill>
            <a:srgbClr val="1D4E89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9240012" y="3520440"/>
            <a:ext cx="22357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  (Draft)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9267444" y="4233672"/>
            <a:ext cx="21442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tập lõi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267444" y="4489704"/>
            <a:ext cx="21442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+ review code AI · Test · Harness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267444" y="5184648"/>
            <a:ext cx="21442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Zero nộp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267444" y="5440680"/>
            <a:ext cx="21442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CHẠY + test xanh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48640" y="59436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đề chung PB-01→PB-06 dùng lại cho cả 4 nghề — cho phép cohort trộn nghề, mô phỏng team dự án thật.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AI Bootcamp v1.0  ·  AI PM Transformation Program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TRIỂN KHAI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200-300 PM qua 4 Wave (cuốn chiếu)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914400"/>
          </a:xfrm>
          <a:prstGeom prst="roundRect">
            <a:avLst>
              <a:gd name="adj" fmla="val 9000"/>
            </a:avLst>
          </a:prstGeom>
          <a:solidFill>
            <a:srgbClr val="1D4E8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9019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1671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200-300 PM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217920" y="2157984"/>
            <a:ext cx="164592" cy="164592"/>
          </a:xfrm>
          <a:prstGeom prst="ellipse">
            <a:avLst/>
          </a:prstGeom>
          <a:solidFill>
            <a:srgbClr val="1D4E89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10528" y="1783080"/>
            <a:ext cx="5129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Foundation (Phase 1+2) — đưa toàn bộ lên L1→L2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4160520" cy="914400"/>
          </a:xfrm>
          <a:prstGeom prst="roundRect">
            <a:avLst>
              <a:gd name="adj" fmla="val 9000"/>
            </a:avLst>
          </a:prstGeom>
          <a:solidFill>
            <a:srgbClr val="3A76C4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04672" y="299923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" y="326440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PM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217920" y="3255264"/>
            <a:ext cx="164592" cy="164592"/>
          </a:xfrm>
          <a:prstGeom prst="ellipse">
            <a:avLst/>
          </a:prstGeom>
          <a:solidFill>
            <a:srgbClr val="3A76C4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510528" y="2880360"/>
            <a:ext cx="5129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thật (Phase 3) trên dự án đang chạy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3017520" cy="914400"/>
          </a:xfrm>
          <a:prstGeom prst="roundRect">
            <a:avLst>
              <a:gd name="adj" fmla="val 9000"/>
            </a:avLst>
          </a:prstGeom>
          <a:solidFill>
            <a:srgbClr val="E07B2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04672" y="40965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4672" y="43616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PM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17920" y="4352544"/>
            <a:ext cx="164592" cy="164592"/>
          </a:xfrm>
          <a:prstGeom prst="ellipse">
            <a:avLst/>
          </a:prstGeom>
          <a:solidFill>
            <a:srgbClr val="E07B29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510528" y="3977640"/>
            <a:ext cx="5129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Champion — coaching, best practice, community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074920"/>
            <a:ext cx="1920240" cy="914400"/>
          </a:xfrm>
          <a:prstGeom prst="roundRect">
            <a:avLst>
              <a:gd name="adj" fmla="val 9000"/>
            </a:avLst>
          </a:prstGeom>
          <a:solidFill>
            <a:srgbClr val="F2A65A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04672" y="51937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4672" y="54589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PM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217920" y="5449824"/>
            <a:ext cx="164592" cy="164592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510528" y="5074920"/>
            <a:ext cx="5129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Program Leader — Governance · KPI · Rollout · Playbook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cohort × 30 PM · 2–3 cohort song song / đợt → Wave 1 hoàn tất ~3–4 tháng. Wave 2 khởi động ngay khi cohort đầu tốt nghiệp.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AI Bootcamp v1.0  ·  AI PM Transformation Program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KIỆN &amp; CHI PHÍ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Điều kiện tham gia &amp; chi phí dự kiến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62956" cy="4160520"/>
          </a:xfrm>
          <a:prstGeom prst="roundRect">
            <a:avLst>
              <a:gd name="adj" fmla="val 1978"/>
            </a:avLst>
          </a:prstGeom>
          <a:solidFill>
            <a:srgbClr val="E9F1FB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1764792"/>
            <a:ext cx="4631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4E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ĐIỀU KIỆN THAM GIA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2468880"/>
            <a:ext cx="384048" cy="384048"/>
          </a:xfrm>
          <a:prstGeom prst="ellipse">
            <a:avLst/>
          </a:prstGeom>
          <a:solidFill>
            <a:srgbClr val="1D4E89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414016"/>
            <a:ext cx="40370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cá nhân · học online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2724912"/>
            <a:ext cx="40370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học viên tự có laptop; lớp tổ chức online (blended/remote).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456432"/>
            <a:ext cx="384048" cy="384048"/>
          </a:xfrm>
          <a:prstGeom prst="ellipse">
            <a:avLst/>
          </a:prstGeom>
          <a:solidFill>
            <a:srgbClr val="1D4E89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08760" y="3401568"/>
            <a:ext cx="40370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khoản AI Coding Agent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3712464"/>
            <a:ext cx="40370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 cấp 1 tài khoản AI Coding Agent $30/tháng để tự tay lái AI.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4443984"/>
            <a:ext cx="384048" cy="384048"/>
          </a:xfrm>
          <a:prstGeom prst="ellipse">
            <a:avLst/>
          </a:prstGeom>
          <a:solidFill>
            <a:srgbClr val="1D4E89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14400" y="4443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08760" y="4389120"/>
            <a:ext cx="40370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 ~2.5–3 tháng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4700016"/>
            <a:ext cx="40370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phòng thêm 1–3 tuần vì Coach có thể bận việc.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77356" y="1508760"/>
            <a:ext cx="5362956" cy="4160520"/>
          </a:xfrm>
          <a:prstGeom prst="roundRect">
            <a:avLst>
              <a:gd name="adj" fmla="val 1978"/>
            </a:avLst>
          </a:prstGeom>
          <a:solidFill>
            <a:srgbClr val="FBECDB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643116" y="1764792"/>
            <a:ext cx="4631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7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 PHÍ TẠM TÍNH — LỚP 30 NGƯỜI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643116" y="2468880"/>
            <a:ext cx="384048" cy="384048"/>
          </a:xfrm>
          <a:prstGeom prst="ellipse">
            <a:avLst/>
          </a:prstGeom>
          <a:solidFill>
            <a:srgbClr val="E07B29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643116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237476" y="2414016"/>
            <a:ext cx="40370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AI Coding Agent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37476" y="2724912"/>
            <a:ext cx="40370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$30/tháng × 3 tháng × 30 người = $2.700  (~70 triệu đ)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643116" y="3456432"/>
            <a:ext cx="384048" cy="384048"/>
          </a:xfrm>
          <a:prstGeom prst="ellipse">
            <a:avLst/>
          </a:prstGeom>
          <a:solidFill>
            <a:srgbClr val="E07B29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643116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237476" y="3401568"/>
            <a:ext cx="40370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237476" y="3712464"/>
            <a:ext cx="40370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500K/h × 2h/buổi × 1 buổi/tuần × 8 tuần = 8 triệu đ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643116" y="4443984"/>
            <a:ext cx="384048" cy="384048"/>
          </a:xfrm>
          <a:prstGeom prst="ellipse">
            <a:avLst/>
          </a:prstGeom>
          <a:solidFill>
            <a:srgbClr val="E07B29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643116" y="4443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237476" y="4389120"/>
            <a:ext cx="40370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tạm tính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237476" y="4700016"/>
            <a:ext cx="40370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78 triệu đ / lớp 30  ·  ~2,6 triệu đ / học viên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liệu CHI PHÍ là dự kiến — chờ HR/BOD duyệt.  Quy đổi tạm 1 USD ≈ 26.000đ.  Chưa gồm chi phí biên soạn nội dung / nền tảng LMS.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AI Bootcamp v1.0  ·  AI PM Transformation Program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TÀI LIỆU &amp; CÁCH XEM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Đọc gì trước — dùng khi nào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 đầu mục Bootcamp + 2 tài liệu bối cảnh AIX FA. Không cần đọc hết một lượt — đi theo thứ tự ①→⑤. ⭐ = bắt buộc đọc kỹ.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734312" cy="896112"/>
          </a:xfrm>
          <a:prstGeom prst="roundRect">
            <a:avLst>
              <a:gd name="adj" fmla="val 8163"/>
            </a:avLst>
          </a:prstGeom>
          <a:solidFill>
            <a:srgbClr val="F4F8FD"/>
          </a:solidFill>
          <a:ln w="12700">
            <a:solidFill>
              <a:srgbClr val="D9E1E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85800" y="1865376"/>
            <a:ext cx="365760" cy="365760"/>
          </a:xfrm>
          <a:prstGeom prst="ellipse">
            <a:avLst/>
          </a:prstGeom>
          <a:solidFill>
            <a:srgbClr val="12294D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85800" y="18653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847088"/>
            <a:ext cx="1075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2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Deck · Infographic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694944" y="2286000"/>
            <a:ext cx="1459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Nắm nhanh ~5′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20112" y="1737360"/>
            <a:ext cx="1734312" cy="896112"/>
          </a:xfrm>
          <a:prstGeom prst="roundRect">
            <a:avLst>
              <a:gd name="adj" fmla="val 8163"/>
            </a:avLst>
          </a:prstGeom>
          <a:solidFill>
            <a:srgbClr val="F4F8FD"/>
          </a:solidFill>
          <a:ln w="12700">
            <a:solidFill>
              <a:srgbClr val="D9E1EA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557272" y="1865376"/>
            <a:ext cx="365760" cy="365760"/>
          </a:xfrm>
          <a:prstGeom prst="ellipse">
            <a:avLst/>
          </a:prstGeom>
          <a:solidFill>
            <a:srgbClr val="12294D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557272" y="18653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68752" y="1847088"/>
            <a:ext cx="1075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2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⭐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2566416" y="2286000"/>
            <a:ext cx="1459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Hiểu đầy đủ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91584" y="1737360"/>
            <a:ext cx="1734312" cy="896112"/>
          </a:xfrm>
          <a:prstGeom prst="roundRect">
            <a:avLst>
              <a:gd name="adj" fmla="val 8163"/>
            </a:avLst>
          </a:prstGeom>
          <a:solidFill>
            <a:srgbClr val="F4F8FD"/>
          </a:solidFill>
          <a:ln w="12700">
            <a:solidFill>
              <a:srgbClr val="D9E1EA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428744" y="1865376"/>
            <a:ext cx="365760" cy="365760"/>
          </a:xfrm>
          <a:prstGeom prst="ellipse">
            <a:avLst/>
          </a:prstGeom>
          <a:solidFill>
            <a:srgbClr val="12294D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428744" y="18653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0224" y="1847088"/>
            <a:ext cx="1075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2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Op.Model ⭐ · Orchestrator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4437888" y="2286000"/>
            <a:ext cx="1459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cách LÁI AI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63056" y="1737360"/>
            <a:ext cx="1734312" cy="896112"/>
          </a:xfrm>
          <a:prstGeom prst="roundRect">
            <a:avLst>
              <a:gd name="adj" fmla="val 8163"/>
            </a:avLst>
          </a:prstGeom>
          <a:solidFill>
            <a:srgbClr val="F4F8FD"/>
          </a:solidFill>
          <a:ln w="12700">
            <a:solidFill>
              <a:srgbClr val="D9E1EA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300216" y="1865376"/>
            <a:ext cx="365760" cy="365760"/>
          </a:xfrm>
          <a:prstGeom prst="ellipse">
            <a:avLst/>
          </a:prstGeom>
          <a:solidFill>
            <a:srgbClr val="12294D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300216" y="18653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11696" y="1847088"/>
            <a:ext cx="1075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2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Workbook + Common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6309360" y="2286000"/>
            <a:ext cx="1459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Luyện tay · Phase 2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034528" y="1737360"/>
            <a:ext cx="1734312" cy="896112"/>
          </a:xfrm>
          <a:prstGeom prst="roundRect">
            <a:avLst>
              <a:gd name="adj" fmla="val 8163"/>
            </a:avLst>
          </a:prstGeom>
          <a:solidFill>
            <a:srgbClr val="F4F8FD"/>
          </a:solidFill>
          <a:ln w="12700">
            <a:solidFill>
              <a:srgbClr val="D9E1EA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171688" y="1865376"/>
            <a:ext cx="365760" cy="365760"/>
          </a:xfrm>
          <a:prstGeom prst="ellipse">
            <a:avLst/>
          </a:prstGeom>
          <a:solidFill>
            <a:srgbClr val="12294D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171688" y="18653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583168" y="1847088"/>
            <a:ext cx="1075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2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Briefs · Playbook ⭐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8180832" y="2286000"/>
            <a:ext cx="1459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Tốt nghiệp · Phase 3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906000" y="1737360"/>
            <a:ext cx="1734312" cy="896112"/>
          </a:xfrm>
          <a:prstGeom prst="roundRect">
            <a:avLst>
              <a:gd name="adj" fmla="val 8163"/>
            </a:avLst>
          </a:prstGeom>
          <a:solidFill>
            <a:srgbClr val="FBECDB"/>
          </a:solidFill>
          <a:ln w="12700">
            <a:solidFill>
              <a:srgbClr val="E07B29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043160" y="1865376"/>
            <a:ext cx="365760" cy="365760"/>
          </a:xfrm>
          <a:prstGeom prst="ellipse">
            <a:avLst/>
          </a:prstGeom>
          <a:solidFill>
            <a:srgbClr val="E07B29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0043160" y="18653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🎓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454640" y="1847088"/>
            <a:ext cx="1075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2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VIVA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10052304" y="2286000"/>
            <a:ext cx="1459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vệ Customer Zero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8640" y="2798064"/>
            <a:ext cx="5317236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768096" y="2999232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2294D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768096" y="2999232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NHÓM A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700784" y="2980944"/>
            <a:ext cx="39913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Khởi động — nắm nhanh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804672" y="3383280"/>
            <a:ext cx="48417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Deck v1.0 (PPTX·PDF) — 20 slide tổng quan để trình bày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Infographic A4 (PDF·PNG) — 1 trang tóm tắt in/dán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⭐ Program v1.0 (MD·PDF) — giáo trình xương sống: kick-off + tự làm + clinic·6 bài tập + capstone·KPI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Portal tương tác (HTML) — xem gần hết online, không cần cài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323076" y="2798064"/>
            <a:ext cx="5317236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6542532" y="2999232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2294D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6542532" y="2999232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NHÓM B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475220" y="2980944"/>
            <a:ext cx="39913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 Cách làm việc với AI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6579108" y="3383280"/>
            <a:ext cx="48417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E0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Đọc TRƯỚC khi bắt tay thực hành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⭐ Operating Model 1 trang — L0–L5 · Leash A/A+ · governance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Orchestrator Guide — lái AI Coding Agent (vòng 7 nhịp Context→Log)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48640" y="4480560"/>
            <a:ext cx="5317236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768096" y="4681728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12294D"/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768096" y="4681728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NHÓM C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700784" y="4663440"/>
            <a:ext cx="39913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 Thực hành &amp; tốt nghiệp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804672" y="5065776"/>
            <a:ext cx="48417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Workbook PM·BA·SA·Dev + Common — 6 drill EX-01→06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Project Briefs — 6 đề PB-01→PB-06 (input Capstone)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⭐ Capstone Playbook — 11 bước từ đề→hệ thống chạy · 🔒 cổng hiểu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323076" y="4480560"/>
            <a:ext cx="5317236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6542532" y="4681728"/>
            <a:ext cx="841248" cy="292608"/>
          </a:xfrm>
          <a:prstGeom prst="roundRect">
            <a:avLst>
              <a:gd name="adj" fmla="val 18750"/>
            </a:avLst>
          </a:prstGeom>
          <a:solidFill>
            <a:srgbClr val="667586"/>
          </a:solidFill>
          <a:ln/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6542532" y="4681728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NHÓM D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475220" y="4663440"/>
            <a:ext cx="39913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Bối cảnh AIX FA (tùy chọn)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6579108" y="5065776"/>
            <a:ext cx="48417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E0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bắt buộc — cho ai muốn thấy bức tranh lớn: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AIX FA Khung 2026 (PPTX·PDF) — khung tổng 3 trụ A·B·C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AIX FA Trụ C People (MD·PDF) — Bootcamp này CHÍNH LÀ trụ C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AI Bootcamp v1.0  ·  AI PM Transformation Program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2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TÀI LIỆU CHƯƠNG TRÌNH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Sẵn sàng để chạy — self-serve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17236" cy="960120"/>
          </a:xfrm>
          <a:prstGeom prst="roundRect">
            <a:avLst>
              <a:gd name="adj" fmla="val 8571"/>
            </a:avLst>
          </a:prstGeom>
          <a:solidFill>
            <a:srgbClr val="1B3A63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1943100"/>
            <a:ext cx="457200" cy="457200"/>
          </a:xfrm>
          <a:prstGeom prst="ellipse">
            <a:avLst/>
          </a:prstGeom>
          <a:solidFill>
            <a:srgbClr val="E07B2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9431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819656"/>
            <a:ext cx="4219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v1.0 ⭐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463040" y="2176272"/>
            <a:ext cx="4219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9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Giáo trình xương sống: kick-off + tự làm + clinic · 6 bài tập + capstone · KPI · roadmap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23076" y="1691640"/>
            <a:ext cx="5317236" cy="960120"/>
          </a:xfrm>
          <a:prstGeom prst="roundRect">
            <a:avLst>
              <a:gd name="adj" fmla="val 8571"/>
            </a:avLst>
          </a:prstGeom>
          <a:solidFill>
            <a:srgbClr val="1B3A63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597396" y="1943100"/>
            <a:ext cx="457200" cy="457200"/>
          </a:xfrm>
          <a:prstGeom prst="ellipse">
            <a:avLst/>
          </a:prstGeom>
          <a:solidFill>
            <a:srgbClr val="E07B29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97396" y="19431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37476" y="1819656"/>
            <a:ext cx="4219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 Playbook ⭐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237476" y="2176272"/>
            <a:ext cx="4219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9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bước từ đề → hệ thống chạy · 🔒 cổng hiểu mỗi bước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834640"/>
            <a:ext cx="5317236" cy="960120"/>
          </a:xfrm>
          <a:prstGeom prst="roundRect">
            <a:avLst>
              <a:gd name="adj" fmla="val 8571"/>
            </a:avLst>
          </a:prstGeom>
          <a:solidFill>
            <a:srgbClr val="1B3A63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22960" y="3086100"/>
            <a:ext cx="457200" cy="457200"/>
          </a:xfrm>
          <a:prstGeom prst="ellipse">
            <a:avLst/>
          </a:prstGeom>
          <a:solidFill>
            <a:srgbClr val="E07B29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2960" y="30861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2962656"/>
            <a:ext cx="4219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Workbook nghề + Common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463040" y="3319272"/>
            <a:ext cx="4219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9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· BA · SA · Dev — drill EX-01→06 làm-ngay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23076" y="2834640"/>
            <a:ext cx="5317236" cy="960120"/>
          </a:xfrm>
          <a:prstGeom prst="roundRect">
            <a:avLst>
              <a:gd name="adj" fmla="val 8571"/>
            </a:avLst>
          </a:prstGeom>
          <a:solidFill>
            <a:srgbClr val="1B3A63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597396" y="3086100"/>
            <a:ext cx="457200" cy="457200"/>
          </a:xfrm>
          <a:prstGeom prst="ellipse">
            <a:avLst/>
          </a:prstGeom>
          <a:solidFill>
            <a:srgbClr val="E07B29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597396" y="30861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37476" y="2962656"/>
            <a:ext cx="4219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Operating Model + Orchestrator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237476" y="3319272"/>
            <a:ext cx="4219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9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Cách LÁI AI: L0–L5 · Leash A/A+ · vòng 7 nhịp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977640"/>
            <a:ext cx="5317236" cy="960120"/>
          </a:xfrm>
          <a:prstGeom prst="roundRect">
            <a:avLst>
              <a:gd name="adj" fmla="val 8571"/>
            </a:avLst>
          </a:prstGeom>
          <a:solidFill>
            <a:srgbClr val="1B3A63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22960" y="4229100"/>
            <a:ext cx="457200" cy="457200"/>
          </a:xfrm>
          <a:prstGeom prst="ellipse">
            <a:avLst/>
          </a:prstGeom>
          <a:solidFill>
            <a:srgbClr val="E07B29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22960" y="42291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63040" y="4105656"/>
            <a:ext cx="4219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Project Briefs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1463040" y="4462272"/>
            <a:ext cx="4219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9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PB-01→PB-06 — đề mẫu dùng chung 4 nghề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23076" y="3977640"/>
            <a:ext cx="5317236" cy="960120"/>
          </a:xfrm>
          <a:prstGeom prst="roundRect">
            <a:avLst>
              <a:gd name="adj" fmla="val 8571"/>
            </a:avLst>
          </a:prstGeom>
          <a:solidFill>
            <a:srgbClr val="1B3A63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597396" y="4229100"/>
            <a:ext cx="457200" cy="457200"/>
          </a:xfrm>
          <a:prstGeom prst="ellipse">
            <a:avLst/>
          </a:prstGeom>
          <a:solidFill>
            <a:srgbClr val="E07B29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597396" y="42291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237476" y="4105656"/>
            <a:ext cx="4219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Deck · Infographic · Portal HTML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7237476" y="4462272"/>
            <a:ext cx="4219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9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trình bày, 1 trang &amp; tra nhanh online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5806440"/>
            <a:ext cx="11091672" cy="640080"/>
          </a:xfrm>
          <a:prstGeom prst="roundRect">
            <a:avLst>
              <a:gd name="adj" fmla="val 50000"/>
            </a:avLst>
          </a:prstGeom>
          <a:solidFill>
            <a:srgbClr val="E07B29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548640" y="58064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Human-led · AI-first · Outcome-first  —  đào tạo AI-Native PM biết LÁI AI, không rubber-stamp.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PHỤ LỤC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Glossary — thuật ngữ &amp; viết tắt (trích)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3629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PM  </a:t>
            </a:r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PM điều hành dự án với AI là lực lượng sản xuất mặc định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203704"/>
            <a:ext cx="5362956" cy="0"/>
          </a:xfrm>
          <a:prstGeom prst="line">
            <a:avLst/>
          </a:prstGeom>
          <a:noFill/>
          <a:ln w="9525">
            <a:solidFill>
              <a:srgbClr val="D9E1E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2203704"/>
            <a:ext cx="53629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Human-led, AI-first  </a:t>
            </a:r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AI làm trước, người review &amp; quyết định; lặp lại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15768"/>
            <a:ext cx="5362956" cy="0"/>
          </a:xfrm>
          <a:prstGeom prst="line">
            <a:avLst/>
          </a:prstGeom>
          <a:noFill/>
          <a:ln w="9525">
            <a:solidFill>
              <a:srgbClr val="D9E1E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48640" y="2715768"/>
            <a:ext cx="53629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CASAN  </a:t>
            </a:r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Khung 5 cấp: Curious·Augmented·Standard·Automated·Native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227832"/>
            <a:ext cx="5362956" cy="0"/>
          </a:xfrm>
          <a:prstGeom prst="line">
            <a:avLst/>
          </a:prstGeom>
          <a:noFill/>
          <a:ln w="9525">
            <a:solidFill>
              <a:srgbClr val="D9E1E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8640" y="3227832"/>
            <a:ext cx="53629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L0–L5  </a:t>
            </a:r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Thang ủy quyền — độ tự chủ AI (chuẩn FPT)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739896"/>
            <a:ext cx="5362956" cy="0"/>
          </a:xfrm>
          <a:prstGeom prst="line">
            <a:avLst/>
          </a:prstGeom>
          <a:noFill/>
          <a:ln w="9525">
            <a:solidFill>
              <a:srgbClr val="D9E1E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48640" y="3739896"/>
            <a:ext cx="53629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Leash A / A+  </a:t>
            </a:r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2 nấc vận hành cắt từ L0–L5 (A≈L3, A+≈L4)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5362956" cy="0"/>
          </a:xfrm>
          <a:prstGeom prst="line">
            <a:avLst/>
          </a:prstGeom>
          <a:noFill/>
          <a:ln w="9525">
            <a:solidFill>
              <a:srgbClr val="D9E1E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48640" y="4251960"/>
            <a:ext cx="53629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 </a:t>
            </a:r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Bộ đồ nghề kỹ thuật quanh model (khác trục tự chủ)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764024"/>
            <a:ext cx="5362956" cy="0"/>
          </a:xfrm>
          <a:prstGeom prst="line">
            <a:avLst/>
          </a:prstGeom>
          <a:noFill/>
          <a:ln w="9525">
            <a:solidFill>
              <a:srgbClr val="D9E1E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48640" y="4764024"/>
            <a:ext cx="53629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 </a:t>
            </a:r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AI điều phối, làm trọn nhiều bước hướng mục tiêu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276088"/>
            <a:ext cx="5362956" cy="0"/>
          </a:xfrm>
          <a:prstGeom prst="line">
            <a:avLst/>
          </a:prstGeom>
          <a:noFill/>
          <a:ln w="9525">
            <a:solidFill>
              <a:srgbClr val="D9E1E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48640" y="5276088"/>
            <a:ext cx="53629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 gate  </a:t>
            </a:r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Cổng kiểm mặc định đóng — không xác minh = chặn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788152"/>
            <a:ext cx="5362956" cy="0"/>
          </a:xfrm>
          <a:prstGeom prst="line">
            <a:avLst/>
          </a:prstGeom>
          <a:noFill/>
          <a:ln w="9525">
            <a:solidFill>
              <a:srgbClr val="D9E1EA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277356" y="1691640"/>
            <a:ext cx="53629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BUILT-flagged  </a:t>
            </a:r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AI làm xong nhưng chờ người duyệt mới release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77356" y="2203704"/>
            <a:ext cx="5362956" cy="0"/>
          </a:xfrm>
          <a:prstGeom prst="line">
            <a:avLst/>
          </a:prstGeom>
          <a:noFill/>
          <a:ln w="9525">
            <a:solidFill>
              <a:srgbClr val="D9E1E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277356" y="2203704"/>
            <a:ext cx="53629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Hard-stop  </a:t>
            </a:r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AI dừng &amp; hỏi khi spec mâu thuẫn, không tự đoán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77356" y="2715768"/>
            <a:ext cx="5362956" cy="0"/>
          </a:xfrm>
          <a:prstGeom prst="line">
            <a:avLst/>
          </a:prstGeom>
          <a:noFill/>
          <a:ln w="9525">
            <a:solidFill>
              <a:srgbClr val="D9E1EA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277356" y="2715768"/>
            <a:ext cx="53629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Zero  </a:t>
            </a:r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Tự build &amp; tự dùng hệ thống mình tạo để hiểu thật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77356" y="3227832"/>
            <a:ext cx="5362956" cy="0"/>
          </a:xfrm>
          <a:prstGeom prst="line">
            <a:avLst/>
          </a:prstGeom>
          <a:noFill/>
          <a:ln w="9525">
            <a:solidFill>
              <a:srgbClr val="D9E1EA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277356" y="3227832"/>
            <a:ext cx="53629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Rubber-stamping  </a:t>
            </a:r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Duyệt bừa output AI mà không review thật (cấm)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77356" y="3739896"/>
            <a:ext cx="5362956" cy="0"/>
          </a:xfrm>
          <a:prstGeom prst="line">
            <a:avLst/>
          </a:prstGeom>
          <a:noFill/>
          <a:ln w="9525">
            <a:solidFill>
              <a:srgbClr val="D9E1EA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277356" y="3739896"/>
            <a:ext cx="53629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Book  </a:t>
            </a:r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Nhật ký quyết định: AI-sai → người-sửa (bằng chứng hiểu)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77356" y="4251960"/>
            <a:ext cx="5362956" cy="0"/>
          </a:xfrm>
          <a:prstGeom prst="line">
            <a:avLst/>
          </a:prstGeom>
          <a:noFill/>
          <a:ln w="9525">
            <a:solidFill>
              <a:srgbClr val="D9E1EA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277356" y="4251960"/>
            <a:ext cx="53629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Nén (Compression)  </a:t>
            </a:r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Giờ truyền thống ÷ giờ thật — đòn bẩy AI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77356" y="4764024"/>
            <a:ext cx="5362956" cy="0"/>
          </a:xfrm>
          <a:prstGeom prst="line">
            <a:avLst/>
          </a:prstGeom>
          <a:noFill/>
          <a:ln w="9525">
            <a:solidFill>
              <a:srgbClr val="D9E1EA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277356" y="4764024"/>
            <a:ext cx="53629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Delegation Map  </a:t>
            </a:r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Bản đồ ủy quyền task (nhóm + mức L + ai duyệt)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77356" y="5276088"/>
            <a:ext cx="5362956" cy="0"/>
          </a:xfrm>
          <a:prstGeom prst="line">
            <a:avLst/>
          </a:prstGeom>
          <a:noFill/>
          <a:ln w="9525">
            <a:solidFill>
              <a:srgbClr val="D9E1EA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277356" y="5276088"/>
            <a:ext cx="53629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 </a:t>
            </a:r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Dữ liệu đo vận hành: token, giờ, rework, cost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77356" y="5788152"/>
            <a:ext cx="5362956" cy="0"/>
          </a:xfrm>
          <a:prstGeom prst="line">
            <a:avLst/>
          </a:prstGeom>
          <a:noFill/>
          <a:ln w="9525">
            <a:solidFill>
              <a:srgbClr val="D9E1EA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đầy đủ 42 mục: xem §15 trong PM-AI-Bootcamp-Program-v1.0.md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PHỤ LỤC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Viết tắt &amp; thuật ngữ acronym (đầy đủ)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64208"/>
            <a:ext cx="53629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</a:t>
            </a:r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Artificial Intelligence — trí tuệ nhân tạo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2139696"/>
            <a:ext cx="5362956" cy="0"/>
          </a:xfrm>
          <a:prstGeom prst="line">
            <a:avLst/>
          </a:prstGeom>
          <a:noFill/>
          <a:ln w="9525">
            <a:solidFill>
              <a:srgbClr val="D9E1E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2139696"/>
            <a:ext cx="53629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 </a:t>
            </a:r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Project Manager — quản lý dự án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615184"/>
            <a:ext cx="5362956" cy="0"/>
          </a:xfrm>
          <a:prstGeom prst="line">
            <a:avLst/>
          </a:prstGeom>
          <a:noFill/>
          <a:ln w="9525">
            <a:solidFill>
              <a:srgbClr val="D9E1E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48640" y="2615184"/>
            <a:ext cx="53629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 </a:t>
            </a:r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Business Analyst — phân tích nghiệp vụ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090672"/>
            <a:ext cx="5362956" cy="0"/>
          </a:xfrm>
          <a:prstGeom prst="line">
            <a:avLst/>
          </a:prstGeom>
          <a:noFill/>
          <a:ln w="9525">
            <a:solidFill>
              <a:srgbClr val="D9E1E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8640" y="3090672"/>
            <a:ext cx="53629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 </a:t>
            </a:r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Solution Architect — kiến trúc sư giải pháp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566160"/>
            <a:ext cx="5362956" cy="0"/>
          </a:xfrm>
          <a:prstGeom prst="line">
            <a:avLst/>
          </a:prstGeom>
          <a:noFill/>
          <a:ln w="9525">
            <a:solidFill>
              <a:srgbClr val="D9E1E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48640" y="3566160"/>
            <a:ext cx="53629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 </a:t>
            </a:r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Developer — lập trình viên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041648"/>
            <a:ext cx="5362956" cy="0"/>
          </a:xfrm>
          <a:prstGeom prst="line">
            <a:avLst/>
          </a:prstGeom>
          <a:noFill/>
          <a:ln w="9525">
            <a:solidFill>
              <a:srgbClr val="D9E1E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48640" y="4041648"/>
            <a:ext cx="53629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 </a:t>
            </a:r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Software Development Life Cycle — vòng đời phát triển PM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517136"/>
            <a:ext cx="5362956" cy="0"/>
          </a:xfrm>
          <a:prstGeom prst="line">
            <a:avLst/>
          </a:prstGeom>
          <a:noFill/>
          <a:ln w="9525">
            <a:solidFill>
              <a:srgbClr val="D9E1E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48640" y="4517136"/>
            <a:ext cx="53629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WBS  </a:t>
            </a:r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Work Breakdown Structure — cấu trúc phân rã công việc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992624"/>
            <a:ext cx="5362956" cy="0"/>
          </a:xfrm>
          <a:prstGeom prst="line">
            <a:avLst/>
          </a:prstGeom>
          <a:noFill/>
          <a:ln w="9525">
            <a:solidFill>
              <a:srgbClr val="D9E1E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48640" y="4992624"/>
            <a:ext cx="53629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 </a:t>
            </a:r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Product Requirements Document — tài liệu yêu cầu sản phẩm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468112"/>
            <a:ext cx="5362956" cy="0"/>
          </a:xfrm>
          <a:prstGeom prst="line">
            <a:avLst/>
          </a:prstGeom>
          <a:noFill/>
          <a:ln w="9525">
            <a:solidFill>
              <a:srgbClr val="D9E1EA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48640" y="5468112"/>
            <a:ext cx="53629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 </a:t>
            </a:r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Acceptance Criteria — tiêu chí chấp nhận (user story)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5943600"/>
            <a:ext cx="5362956" cy="0"/>
          </a:xfrm>
          <a:prstGeom prst="line">
            <a:avLst/>
          </a:prstGeom>
          <a:noFill/>
          <a:ln w="9525">
            <a:solidFill>
              <a:srgbClr val="D9E1E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277356" y="1664208"/>
            <a:ext cx="53629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 </a:t>
            </a:r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Architecture Decision Record — bản ghi quyết định kiến trúc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77356" y="2139696"/>
            <a:ext cx="5362956" cy="0"/>
          </a:xfrm>
          <a:prstGeom prst="line">
            <a:avLst/>
          </a:prstGeom>
          <a:noFill/>
          <a:ln w="9525">
            <a:solidFill>
              <a:srgbClr val="D9E1EA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277356" y="2139696"/>
            <a:ext cx="53629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  </a:t>
            </a:r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Non-Functional Requirement — yêu cầu phi chức năng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77356" y="2615184"/>
            <a:ext cx="5362956" cy="0"/>
          </a:xfrm>
          <a:prstGeom prst="line">
            <a:avLst/>
          </a:prstGeom>
          <a:noFill/>
          <a:ln w="9525">
            <a:solidFill>
              <a:srgbClr val="D9E1EA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277356" y="2615184"/>
            <a:ext cx="53629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 </a:t>
            </a:r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Return on Investment — lợi ích trên chi phí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77356" y="3090672"/>
            <a:ext cx="5362956" cy="0"/>
          </a:xfrm>
          <a:prstGeom prst="line">
            <a:avLst/>
          </a:prstGeom>
          <a:noFill/>
          <a:ln w="9525">
            <a:solidFill>
              <a:srgbClr val="D9E1EA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277356" y="3090672"/>
            <a:ext cx="53629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Key Performance Indicator — chỉ số hiệu quả trọng yếu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77356" y="3566160"/>
            <a:ext cx="5362956" cy="0"/>
          </a:xfrm>
          <a:prstGeom prst="line">
            <a:avLst/>
          </a:prstGeom>
          <a:noFill/>
          <a:ln w="9525">
            <a:solidFill>
              <a:srgbClr val="D9E1EA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277356" y="3566160"/>
            <a:ext cx="53629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 </a:t>
            </a:r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Model Context Protocol — chuẩn để AI gọi tool/dữ liệu ngoài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277356" y="4041648"/>
            <a:ext cx="5362956" cy="0"/>
          </a:xfrm>
          <a:prstGeom prst="line">
            <a:avLst/>
          </a:prstGeom>
          <a:noFill/>
          <a:ln w="9525">
            <a:solidFill>
              <a:srgbClr val="D9E1EA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277356" y="4041648"/>
            <a:ext cx="53629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  </a:t>
            </a:r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Project Brief — đề bài dự án mẫu (PB-01→PB-06)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277356" y="4517136"/>
            <a:ext cx="5362956" cy="0"/>
          </a:xfrm>
          <a:prstGeom prst="line">
            <a:avLst/>
          </a:prstGeom>
          <a:noFill/>
          <a:ln w="9525">
            <a:solidFill>
              <a:srgbClr val="D9E1EA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277356" y="4517136"/>
            <a:ext cx="53629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  </a:t>
            </a:r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Trung Bình — điểm rubric trung bình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77356" y="4992624"/>
            <a:ext cx="5362956" cy="0"/>
          </a:xfrm>
          <a:prstGeom prst="line">
            <a:avLst/>
          </a:prstGeom>
          <a:noFill/>
          <a:ln w="9525">
            <a:solidFill>
              <a:srgbClr val="D9E1EA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277356" y="4992624"/>
            <a:ext cx="53629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· BOD  </a:t>
            </a:r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Human Resources · Board of Directors — nhân sự · ban lãnh đạo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277356" y="5468112"/>
            <a:ext cx="5362956" cy="0"/>
          </a:xfrm>
          <a:prstGeom prst="line">
            <a:avLst/>
          </a:prstGeom>
          <a:noFill/>
          <a:ln w="9525">
            <a:solidFill>
              <a:srgbClr val="D9E1EA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277356" y="5468112"/>
            <a:ext cx="53629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FPT · FSoft · AIX  </a:t>
            </a:r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Tập đoàn FPT · FPT Software · đơn vị AI Transformation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277356" y="5943600"/>
            <a:ext cx="5362956" cy="0"/>
          </a:xfrm>
          <a:prstGeom prst="line">
            <a:avLst/>
          </a:prstGeom>
          <a:noFill/>
          <a:ln w="9525">
            <a:solidFill>
              <a:srgbClr val="D9E1EA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khái niệm (CASAN · L0–L5 · Leash · Harness · Fail-closed · BUILT-flagged · Customer Zero · Nén…) xem slide Glossary trước.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 AI Bootcamp v1.0 — Chương trình tóm tắt</dc:title>
  <dc:subject>PptxGenJS Presentation</dc:subject>
  <dc:creator>FSoft AIX — AI Transformation</dc:creator>
  <cp:lastModifiedBy>FSoft AIX — AI Transformation</cp:lastModifiedBy>
  <cp:revision>1</cp:revision>
  <dcterms:created xsi:type="dcterms:W3CDTF">2026-07-10T04:21:39Z</dcterms:created>
  <dcterms:modified xsi:type="dcterms:W3CDTF">2026-07-10T04:21:39Z</dcterms:modified>
</cp:coreProperties>
</file>