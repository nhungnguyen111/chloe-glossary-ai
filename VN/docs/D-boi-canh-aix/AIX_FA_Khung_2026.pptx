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D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FPT · CHƯƠNG TRÌNH AIX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Native cho FA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kế hoạch ứng dụng AI tới hết 2026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2926080" cy="0"/>
          </a:xfrm>
          <a:prstGeom prst="line">
            <a:avLst/>
          </a:prstGeom>
          <a:noFill/>
          <a:ln w="25400">
            <a:solidFill>
              <a:srgbClr val="C98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đo được theo chuẩn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Rõ</a:t>
            </a:r>
            <a:pPr indent="0" marL="0">
              <a:buNone/>
            </a:pPr>
            <a:r>
              <a:rPr lang="en-US" sz="1500" dirty="0">
                <a:solidFill>
                  <a:srgbClr val="9D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Bản nháp để review khung  ·  07/2026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MANDATE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Đang ở đâu và cần làm gì cho FA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58647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CÓ MỘT PHẦN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&amp; Năng lực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 đào tạo / chuyển đổi con người cho FA đã được xây và triển khai.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26280" y="19659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22860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2E6CB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VỪA NHẬN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834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Mandate AIX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846320" y="33832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thức phụ trách chuyển đổi AI (AIX) cho FA — mở rộng từ người sang delivery &amp; khách hàng.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412480" y="19659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32520" y="22860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C9821A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LÀM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32520" y="2834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tới hết 2026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732520" y="33832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AI cho dự án và khách hàng, với outcome business đo được rõ ràng.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142B4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Thước đo xuyên suốt: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sáng kiến phải đạt chuẩn 6 Rõ của FPT — rõ bài toán, nhiệm vụ, thời hạn, kết quả, người phụ trách, ngân sách.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ĐÁNH GIÁ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Rõ — thước đo mọi sáng kiến AIX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2E6CB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Rõ bài toán lớn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Đích đến mô tả rõ, lượng hoá dưới dạng chỉ tiêu cam kết.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103120"/>
            <a:ext cx="457200" cy="457200"/>
          </a:xfrm>
          <a:prstGeom prst="ellipse">
            <a:avLst/>
          </a:prstGeom>
          <a:solidFill>
            <a:srgbClr val="2E6CB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Rõ nhiệm vụ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00600" y="26974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nhỏ thành đầu việc / chỉ số theo dõi tháng–tuần.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0" y="2103120"/>
            <a:ext cx="457200" cy="457200"/>
          </a:xfrm>
          <a:prstGeom prst="ellipse">
            <a:avLst/>
          </a:prstGeom>
          <a:solidFill>
            <a:srgbClr val="2E6CB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81160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Rõ thời hạn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0" y="26974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 Ngày/Tháng cụ thể + tần suất báo cáo, review.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069080"/>
            <a:ext cx="457200" cy="45720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0507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Rõ kết quả đầu ra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tính &amp; cách đánh giá, align với bài toán lớn.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26280" y="379476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4069080"/>
            <a:ext cx="457200" cy="45720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40507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Rõ người phụ trách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800600" y="4663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đủ năng lực, đủ thẩm quyền cho từng sáng kiến.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412480" y="379476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0" y="4069080"/>
            <a:ext cx="457200" cy="45720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281160" y="40507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Rõ ngân sách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686800" y="4663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tool/license + nhân sự chuyên môn.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TỔNG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trụ ứng dụng AI + nền quản trị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9050">
            <a:solidFill>
              <a:srgbClr val="2E6CB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2E6CB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cho Delivery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E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 · nội bộ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năng suất cách FA làm dự án: code, test, review, tài liệu, PM.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0120" y="4251960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E4ECF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519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Margin ↑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26280" y="178308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9050">
            <a:solidFill>
              <a:srgbClr val="C9821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103120"/>
            <a:ext cx="457200" cy="45720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2084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cho Khách hàng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AI-out · doanh thu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31089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thành sản phẩm/offering bán được, nhúng vào giải pháp cho KH.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846320" y="4251960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F6EBD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42519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Win rate ↑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412480" y="178308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9050">
            <a:solidFill>
              <a:srgbClr val="58647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32520" y="2103120"/>
            <a:ext cx="457200" cy="457200"/>
          </a:xfrm>
          <a:prstGeom prst="ellipse">
            <a:avLst/>
          </a:prstGeom>
          <a:solidFill>
            <a:srgbClr val="586472"/>
          </a:solidFill>
          <a:ln/>
        </p:spPr>
      </p:sp>
      <p:sp>
        <p:nvSpPr>
          <p:cNvPr id="22" name="Text 20"/>
          <p:cNvSpPr/>
          <p:nvPr/>
        </p:nvSpPr>
        <p:spPr>
          <a:xfrm>
            <a:off x="8732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81160" y="2084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cho Con người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732520" y="26974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8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· đã có chương trình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732520" y="31089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lực &amp; thói quen dùng AI: đào tạo, chứng chỉ, cộng đồng.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732520" y="4251960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/>
        </p:spPr>
      </p:sp>
      <p:sp>
        <p:nvSpPr>
          <p:cNvPr id="27" name="Text 25"/>
          <p:cNvSpPr/>
          <p:nvPr/>
        </p:nvSpPr>
        <p:spPr>
          <a:xfrm>
            <a:off x="8732520" y="42519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Nền cho A &amp; B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5074920"/>
            <a:ext cx="10881360" cy="731520"/>
          </a:xfrm>
          <a:prstGeom prst="roundRect">
            <a:avLst>
              <a:gd name="adj" fmla="val 11250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— Governance:  </a:t>
            </a:r>
            <a:pPr indent="0" marL="0">
              <a:buNone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tool/IP/security · cách đo &amp; dashboard · ngân sách. Trọng tâm 6 tháng: dồn vào A và B (chỗ tạo con số business).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ĐÃ CÓ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Trụ C — AI cho Con người: chương trình đang chạy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bắt đầu từ số 0 — lực lượng vận hành cho Trụ A &amp; B đã được đào tạo (bộ PM-AI-Bootcamp).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44602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200-300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313432"/>
            <a:ext cx="217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tham gia toàn FA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51860" y="1783080"/>
            <a:ext cx="244602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9020" y="18745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89020" y="2313432"/>
            <a:ext cx="217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· PM BA SA Dev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244602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745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 tuần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2313432"/>
            <a:ext cx="217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giai đoạn · học lồng 30–40%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5420" y="1783080"/>
            <a:ext cx="244602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12580" y="18745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wave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12580" y="2313432"/>
            <a:ext cx="217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 PM mỗi wave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58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HỌC — 3 PHASE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246120"/>
            <a:ext cx="5806440" cy="475488"/>
          </a:xfrm>
          <a:prstGeom prst="roundRect">
            <a:avLst>
              <a:gd name="adj" fmla="val 11538"/>
            </a:avLst>
          </a:prstGeom>
          <a:solidFill>
            <a:srgbClr val="E9ECEF"/>
          </a:solidFill>
          <a:ln w="12700">
            <a:solidFill>
              <a:srgbClr val="5864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24612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AI Mindset · 1 ngày   </a:t>
            </a:r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đánh giá CASAN + chọn dự án pilot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97280" y="3721608"/>
            <a:ext cx="0" cy="128016"/>
          </a:xfrm>
          <a:prstGeom prst="line">
            <a:avLst/>
          </a:prstGeom>
          <a:noFill/>
          <a:ln w="19050">
            <a:solidFill>
              <a:srgbClr val="5864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" y="3849624"/>
            <a:ext cx="5806440" cy="475488"/>
          </a:xfrm>
          <a:prstGeom prst="roundRect">
            <a:avLst>
              <a:gd name="adj" fmla="val 11538"/>
            </a:avLst>
          </a:prstGeom>
          <a:solidFill>
            <a:srgbClr val="E9ECEF"/>
          </a:solidFill>
          <a:ln w="12700">
            <a:solidFill>
              <a:srgbClr val="5864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4962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Hands-on · 4 tuần   </a:t>
            </a:r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bài tập (T1–T10) đều có telemetry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97280" y="4325112"/>
            <a:ext cx="0" cy="128016"/>
          </a:xfrm>
          <a:prstGeom prst="line">
            <a:avLst/>
          </a:prstGeom>
          <a:noFill/>
          <a:ln w="19050">
            <a:solidFill>
              <a:srgbClr val="58647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" y="4453128"/>
            <a:ext cx="5806440" cy="475488"/>
          </a:xfrm>
          <a:prstGeom prst="roundRect">
            <a:avLst>
              <a:gd name="adj" fmla="val 11538"/>
            </a:avLst>
          </a:prstGeom>
          <a:solidFill>
            <a:srgbClr val="E9ECEF"/>
          </a:solidFill>
          <a:ln w="12700">
            <a:solidFill>
              <a:srgbClr val="5864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45312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Capstone · 4 tuần   </a:t>
            </a:r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“Customer Zero” chạy được + vấn đáp (viva)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20840" y="28803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CỔNG TỐT NGHIỆP CỨNG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720840" y="3246120"/>
            <a:ext cx="4800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3255264"/>
            <a:ext cx="457200" cy="45720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79208" y="32461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6 trụ năng lực ≥ 2.5 (không trụ nào = 0)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20840" y="3849624"/>
            <a:ext cx="4800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3858768"/>
            <a:ext cx="457200" cy="45720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79208" y="384962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chạy được — demo trực tiếp, không chỉ tài liệu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720840" y="4453128"/>
            <a:ext cx="4800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4462272"/>
            <a:ext cx="457200" cy="45720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37" name="Text 35"/>
          <p:cNvSpPr/>
          <p:nvPr/>
        </p:nvSpPr>
        <p:spPr>
          <a:xfrm>
            <a:off x="68122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79208" y="445312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vấn đáp (viva) — hỏi sâu, chứng minh hiểu thật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720840" y="503834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1 trong 3 = chưa tốt nghiệp, dù tài liệu đẹp.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5120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TRỤ C → OUTCOME AIX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" y="5413248"/>
            <a:ext cx="3383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2E6C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552297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giờ  (giờ chuẩn ÷ giờ thật)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41248" y="5925312"/>
            <a:ext cx="2980944" cy="310896"/>
          </a:xfrm>
          <a:prstGeom prst="roundRect">
            <a:avLst>
              <a:gd name="adj" fmla="val 14706"/>
            </a:avLst>
          </a:prstGeom>
          <a:solidFill>
            <a:srgbClr val="E4ECF7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" y="592531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Margin ↑ (Trụ A)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389120" y="5413248"/>
            <a:ext cx="3383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5864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90288" y="552297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AI vào quy trình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90288" y="5925312"/>
            <a:ext cx="2980944" cy="310896"/>
          </a:xfrm>
          <a:prstGeom prst="roundRect">
            <a:avLst>
              <a:gd name="adj" fmla="val 14706"/>
            </a:avLst>
          </a:prstGeom>
          <a:solidFill>
            <a:srgbClr val="E9ECEF"/>
          </a:solidFill>
          <a:ln/>
        </p:spPr>
      </p:sp>
      <p:sp>
        <p:nvSpPr>
          <p:cNvPr id="48" name="Text 46"/>
          <p:cNvSpPr/>
          <p:nvPr/>
        </p:nvSpPr>
        <p:spPr>
          <a:xfrm>
            <a:off x="4590288" y="592531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Năng lực Trụ A &amp; B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138160" y="5413248"/>
            <a:ext cx="3383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5864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39328" y="552297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· bug rate 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339328" y="5925312"/>
            <a:ext cx="2980944" cy="310896"/>
          </a:xfrm>
          <a:prstGeom prst="roundRect">
            <a:avLst>
              <a:gd name="adj" fmla="val 14706"/>
            </a:avLst>
          </a:prstGeom>
          <a:solidFill>
            <a:srgbClr val="E9ECEF"/>
          </a:solidFill>
          <a:ln/>
        </p:spPr>
      </p:sp>
      <p:sp>
        <p:nvSpPr>
          <p:cNvPr id="52" name="Text 50"/>
          <p:cNvSpPr/>
          <p:nvPr/>
        </p:nvSpPr>
        <p:spPr>
          <a:xfrm>
            <a:off x="8339328" y="592531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Chất lượng giao hàng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sáng kiến AI — chọn 3–5 trọng tâm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548640"/>
          </a:xfrm>
          <a:prstGeom prst="roundRect">
            <a:avLst>
              <a:gd name="adj" fmla="val 11667"/>
            </a:avLst>
          </a:prstGeom>
          <a:solidFill>
            <a:srgbClr val="2E6CB4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828800"/>
            <a:ext cx="457200" cy="457200"/>
          </a:xfrm>
          <a:prstGeom prst="ellipse">
            <a:avLst/>
          </a:prstGeom>
          <a:solidFill>
            <a:srgbClr val="1E3A63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Trụ A · Delivery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6243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assistant chuẩn hoá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96112" y="29718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buNone/>
            </a:pPr>
            <a:r>
              <a:rPr lang="en-US" sz="125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% · uplift SP/MD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6301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Test-gen &amp; test-review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96112" y="39776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buNone/>
            </a:pPr>
            <a:r>
              <a:rPr lang="en-US" sz="125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↑ · giờ QA ↓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6360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cho tài liệu / BA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96112" y="49834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buNone/>
            </a:pPr>
            <a:r>
              <a:rPr lang="en-US" sz="125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soạn ↓ · onboarding ↓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532120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6418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review assistant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96112" y="59893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6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buNone/>
            </a:pPr>
            <a:r>
              <a:rPr lang="en-US" sz="125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↓ · defect ↓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26280" y="1783080"/>
            <a:ext cx="3429000" cy="548640"/>
          </a:xfrm>
          <a:prstGeom prst="roundRect">
            <a:avLst>
              <a:gd name="adj" fmla="val 11667"/>
            </a:avLst>
          </a:prstGeom>
          <a:solidFill>
            <a:srgbClr val="C9821A"/>
          </a:solidFill>
          <a:ln/>
        </p:spPr>
      </p:sp>
      <p:sp>
        <p:nvSpPr>
          <p:cNvPr id="21" name="Shape 19"/>
          <p:cNvSpPr/>
          <p:nvPr/>
        </p:nvSpPr>
        <p:spPr>
          <a:xfrm>
            <a:off x="4672584" y="1828800"/>
            <a:ext cx="457200" cy="457200"/>
          </a:xfrm>
          <a:prstGeom prst="ellipse">
            <a:avLst/>
          </a:prstGeom>
          <a:solidFill>
            <a:srgbClr val="1E3A63"/>
          </a:solidFill>
          <a:ln/>
        </p:spPr>
      </p:sp>
      <p:sp>
        <p:nvSpPr>
          <p:cNvPr id="22" name="Text 20"/>
          <p:cNvSpPr/>
          <p:nvPr/>
        </p:nvSpPr>
        <p:spPr>
          <a:xfrm>
            <a:off x="467258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Trụ B · Khách hàng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526280" y="2514600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6243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use-case theo domain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782312" y="29718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buNone/>
            </a:pPr>
            <a:r>
              <a:rPr lang="en-US" sz="125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use-case · # KH tiếp cận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26280" y="3520440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6301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POC → Production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782312" y="39776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buNone/>
            </a:pPr>
            <a:r>
              <a:rPr lang="en-US" sz="125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POC→prod · doanh thu AI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26280" y="4526280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46360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AI-native mới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782312" y="49834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buNone/>
            </a:pPr>
            <a:r>
              <a:rPr lang="en-US" sz="125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value · # deal AI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12480" y="1783080"/>
            <a:ext cx="3429000" cy="548640"/>
          </a:xfrm>
          <a:prstGeom prst="roundRect">
            <a:avLst>
              <a:gd name="adj" fmla="val 11667"/>
            </a:avLst>
          </a:prstGeom>
          <a:solidFill>
            <a:srgbClr val="586472"/>
          </a:solidFill>
          <a:ln/>
        </p:spPr>
      </p:sp>
      <p:sp>
        <p:nvSpPr>
          <p:cNvPr id="34" name="Shape 32"/>
          <p:cNvSpPr/>
          <p:nvPr/>
        </p:nvSpPr>
        <p:spPr>
          <a:xfrm>
            <a:off x="8558784" y="1828800"/>
            <a:ext cx="457200" cy="457200"/>
          </a:xfrm>
          <a:prstGeom prst="ellipse">
            <a:avLst/>
          </a:prstGeom>
          <a:solidFill>
            <a:srgbClr val="1E3A63"/>
          </a:solidFill>
          <a:ln/>
        </p:spPr>
      </p:sp>
      <p:sp>
        <p:nvSpPr>
          <p:cNvPr id="35" name="Text 33"/>
          <p:cNvSpPr/>
          <p:nvPr/>
        </p:nvSpPr>
        <p:spPr>
          <a:xfrm>
            <a:off x="855878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09828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Trụ C · Con người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8412480" y="2514600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68512" y="262432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chứng chỉ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668512" y="29718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buNone/>
            </a:pPr>
            <a:r>
              <a:rPr lang="en-US" sz="125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người cert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412480" y="3520440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68512" y="36301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đồng champion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668512" y="39776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buNone/>
            </a:pPr>
            <a:r>
              <a:rPr lang="en-US" sz="125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áp dụng thật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ĐẦU 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Cây KPI: sáng kiến → chỉ số leading →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20240" y="1783080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2E6CB4"/>
          </a:solidFill>
          <a:ln w="15875">
            <a:solidFill>
              <a:srgbClr val="2E6C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1837944"/>
            <a:ext cx="2651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20240" y="2112264"/>
            <a:ext cx="26517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lợi nhuận dự án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616952" y="1783080"/>
            <a:ext cx="2651760" cy="658368"/>
          </a:xfrm>
          <a:prstGeom prst="roundRect">
            <a:avLst>
              <a:gd name="adj" fmla="val 9722"/>
            </a:avLst>
          </a:prstGeom>
          <a:solidFill>
            <a:srgbClr val="C9821A"/>
          </a:solidFill>
          <a:ln w="15875">
            <a:solidFill>
              <a:srgbClr val="C98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6952" y="1837944"/>
            <a:ext cx="2651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rate 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16952" y="2112264"/>
            <a:ext cx="26517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thắng thầu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20240" y="2743200"/>
            <a:ext cx="2651760" cy="731520"/>
          </a:xfrm>
          <a:prstGeom prst="roundRect">
            <a:avLst>
              <a:gd name="adj" fmla="val 8750"/>
            </a:avLst>
          </a:prstGeom>
          <a:solidFill>
            <a:srgbClr val="E4ECF7"/>
          </a:solidFill>
          <a:ln w="15875">
            <a:solidFill>
              <a:srgbClr val="2E6C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7980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Giảm chi phí delivery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31089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ít MD hơn / job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16952" y="2743200"/>
            <a:ext cx="2651760" cy="731520"/>
          </a:xfrm>
          <a:prstGeom prst="roundRect">
            <a:avLst>
              <a:gd name="adj" fmla="val 8750"/>
            </a:avLst>
          </a:prstGeom>
          <a:solidFill>
            <a:srgbClr val="F6EBD6"/>
          </a:solidFill>
          <a:ln w="15875">
            <a:solidFill>
              <a:srgbClr val="C98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27980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 xuất nhanh hơn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16952" y="31089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biệt bằng AI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920240" y="3703320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875">
            <a:solidFill>
              <a:srgbClr val="2E6C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7033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AI %/tuần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920240" y="4215384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875">
            <a:solidFill>
              <a:srgbClr val="2E6C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421538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SP / MD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920240" y="4727448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875">
            <a:solidFill>
              <a:srgbClr val="2E6C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47274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↓ · defect ↓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16952" y="3703320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875">
            <a:solidFill>
              <a:srgbClr val="C982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6952" y="37033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AI use-case / đề xuất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16952" y="4215384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875">
            <a:solidFill>
              <a:srgbClr val="C98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6952" y="421538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POC → production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16952" y="4727448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5875">
            <a:solidFill>
              <a:srgbClr val="C982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16952" y="47274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có cấu phần AI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874520" y="571500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9ECEF"/>
          </a:solidFill>
          <a:ln w="15875">
            <a:solidFill>
              <a:srgbClr val="5864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74520" y="571500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Trụ C — Năng lực AI (nền)</a:t>
            </a:r>
            <a:pPr algn="ctr" indent="0" marL="0">
              <a:buNone/>
            </a:pPr>
            <a:r>
              <a:rPr lang="en-US" sz="13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# người cert · tỷ lệ áp dụng vào việc thật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46120" y="3474720"/>
            <a:ext cx="0" cy="210312"/>
          </a:xfrm>
          <a:prstGeom prst="line">
            <a:avLst/>
          </a:prstGeom>
          <a:noFill/>
          <a:ln w="25400">
            <a:solidFill>
              <a:srgbClr val="2E6CB4"/>
            </a:solidFill>
            <a:prstDash val="solid"/>
            <a:headEnd type="triangle"/>
          </a:ln>
        </p:spPr>
      </p:sp>
      <p:sp>
        <p:nvSpPr>
          <p:cNvPr id="31" name="Shape 29"/>
          <p:cNvSpPr/>
          <p:nvPr/>
        </p:nvSpPr>
        <p:spPr>
          <a:xfrm>
            <a:off x="3246120" y="2441448"/>
            <a:ext cx="0" cy="274320"/>
          </a:xfrm>
          <a:prstGeom prst="line">
            <a:avLst/>
          </a:prstGeom>
          <a:noFill/>
          <a:ln w="25400">
            <a:solidFill>
              <a:srgbClr val="2E6CB4"/>
            </a:solidFill>
            <a:prstDash val="solid"/>
            <a:headEnd type="triangle"/>
          </a:ln>
        </p:spPr>
      </p:sp>
      <p:sp>
        <p:nvSpPr>
          <p:cNvPr id="32" name="Shape 30"/>
          <p:cNvSpPr/>
          <p:nvPr/>
        </p:nvSpPr>
        <p:spPr>
          <a:xfrm>
            <a:off x="8942832" y="3474720"/>
            <a:ext cx="0" cy="210312"/>
          </a:xfrm>
          <a:prstGeom prst="line">
            <a:avLst/>
          </a:prstGeom>
          <a:noFill/>
          <a:ln w="25400">
            <a:solidFill>
              <a:srgbClr val="C9821A"/>
            </a:solidFill>
            <a:prstDash val="solid"/>
            <a:headEnd type="triangle"/>
          </a:ln>
        </p:spPr>
      </p:sp>
      <p:sp>
        <p:nvSpPr>
          <p:cNvPr id="33" name="Shape 31"/>
          <p:cNvSpPr/>
          <p:nvPr/>
        </p:nvSpPr>
        <p:spPr>
          <a:xfrm>
            <a:off x="8942832" y="2441448"/>
            <a:ext cx="0" cy="274320"/>
          </a:xfrm>
          <a:prstGeom prst="line">
            <a:avLst/>
          </a:prstGeom>
          <a:noFill/>
          <a:ln w="25400">
            <a:solidFill>
              <a:srgbClr val="C9821A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3246120" y="5148072"/>
            <a:ext cx="0" cy="548640"/>
          </a:xfrm>
          <a:prstGeom prst="line">
            <a:avLst/>
          </a:prstGeom>
          <a:noFill/>
          <a:ln w="22225">
            <a:solidFill>
              <a:srgbClr val="586472"/>
            </a:solidFill>
            <a:prstDash val="dash"/>
            <a:headEnd type="triangle"/>
          </a:ln>
        </p:spPr>
      </p:sp>
      <p:sp>
        <p:nvSpPr>
          <p:cNvPr id="35" name="Shape 33"/>
          <p:cNvSpPr/>
          <p:nvPr/>
        </p:nvSpPr>
        <p:spPr>
          <a:xfrm>
            <a:off x="8942832" y="5148072"/>
            <a:ext cx="0" cy="548640"/>
          </a:xfrm>
          <a:prstGeom prst="line">
            <a:avLst/>
          </a:prstGeom>
          <a:noFill/>
          <a:ln w="22225">
            <a:solidFill>
              <a:srgbClr val="586472"/>
            </a:solidFill>
            <a:prstDash val="dash"/>
            <a:headEnd type="triangle"/>
          </a:ln>
        </p:spPr>
      </p:sp>
      <p:sp>
        <p:nvSpPr>
          <p:cNvPr id="36" name="Text 34"/>
          <p:cNvSpPr/>
          <p:nvPr/>
        </p:nvSpPr>
        <p:spPr>
          <a:xfrm>
            <a:off x="640080" y="6510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&amp; Win rate là chỉ số lagging — chuỗi leading (adoption, uplift, #use-case, #POC) là thứ lái được trong 6 tháng.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– Q4 2026 (≈ 6 tháng còn lại)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389120"/>
                <a:gridCol w="4389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Q3 · 7–9/2026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Q4 · 10–12/2026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Delivery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CB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Chốt apply Pilot → chọn Pioneer, CarUX, WNC (↑20% margin)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Chốt ODCx – HMotor, 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Nhân rộng · đo uplift SP/MD · chuẩn hoá playbook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Xây dựng được Offering cho mô hình ODCx – Outcome based (có thể ko toàn diện ODC mà một phần ODC)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Khách hàng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2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Tất cả các Offer cần áp dụng AI, tăng win rate (nếu được phép)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Tiếp tục công việc của Q3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Con người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64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1-5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Đo adoption sau training hiện tại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6-10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Đào tạo tiếp + cộng đồng champion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 hành policy tool/IP/security · dựng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giữa kỳ + báo cáo outcome cuối năm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tắc: có report rõ ràng về tiến độ monthly - hiệu quả quartly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KHAI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sáng kiến khai đủ theo 6 Rõ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046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Rõ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Nội dung cần điền cho từng sáng kiến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Bài toán lớn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Bài toán FA đang giải + lượng hoá đích (VD năng suất +25% / win rate +X điểm)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Nhiệm vụ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Đầu việc &amp; chỉ số theo tháng–tuần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Thời hạn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Mốc Ngày/Tháng + tần suất review (VD báo cáo 2 tuần/lần)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Kết quả đầu 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 tính &amp; cách đánh giá từng chỉ số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Người phụ trách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đủ thẩm quyền cho sáng kiến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Ngân sách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 tool/license + nhân sự chuyên môn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TIN CẬY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điều quyết định độ tin của con số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9050">
            <a:solidFill>
              <a:srgbClr val="2E6CB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4526280" cy="566928"/>
          </a:xfrm>
          <a:prstGeom prst="roundRect">
            <a:avLst>
              <a:gd name="adj" fmla="val 11290"/>
            </a:avLst>
          </a:prstGeom>
          <a:solidFill>
            <a:srgbClr val="E4ECF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Baseline + Attribution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3108960"/>
            <a:ext cx="4343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&amp; win rate bị chi phối bởi giá, đối thủ, mix dự án.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tính hiệu quả cho AI: đo baseline → chạy pilot có nhóm đối chứng (dùng AI vs Est truyền thống) → chênh lệch = phần AI đóng góp.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baseline ⇒ cuối năm không chứng minh được.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25780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9050">
            <a:solidFill>
              <a:srgbClr val="C9821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2286000"/>
            <a:ext cx="4526280" cy="566928"/>
          </a:xfrm>
          <a:prstGeom prst="roundRect">
            <a:avLst>
              <a:gd name="adj" fmla="val 11290"/>
            </a:avLst>
          </a:prstGeom>
          <a:solidFill>
            <a:srgbClr val="F6EBD6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2860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Kỳ vọng thời gian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66560" y="3108960"/>
            <a:ext cx="4343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tháng: adoption, uplift SP/MD, #use-case, #Result có số thật.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&amp; win rate thường chỉ ra tín hiệu sớm trên vài pilot.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Q4: chứng minh cơ chế + 1–2 case có số — chưa hứa dịch chuyển margin toàn bộ FA.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82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961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Cần bổ sung để có Detailed Plan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E3A63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130552"/>
            <a:ext cx="502920" cy="50292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20299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 + domain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2432304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mô; sub-domain automotive nào (quyết định catalog use-case Trụ B).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8288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E3A63"/>
          </a:solidFill>
          <a:ln/>
        </p:spPr>
      </p:sp>
      <p:sp>
        <p:nvSpPr>
          <p:cNvPr id="11" name="Shape 9"/>
          <p:cNvSpPr/>
          <p:nvPr/>
        </p:nvSpPr>
        <p:spPr>
          <a:xfrm>
            <a:off x="6720840" y="2130552"/>
            <a:ext cx="502920" cy="50292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06640" y="20299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hiện tại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06640" y="2432304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% và win rate FA đang ở đâu (áng chừng); MD/chi phí trung bình.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5661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E3A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3867912"/>
            <a:ext cx="502920" cy="50292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76732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Q3–Q4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83080" y="4169664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deal/account nào sắp đấu thầu để làm pilot win rate không?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6520" y="35661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E3A63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3867912"/>
            <a:ext cx="502920" cy="50292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06640" y="376732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Ngân sách tool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06640" y="4169664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License/tool được cấp tới đâu (điền Rõ ngân sách) — có thể sau.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5623560"/>
            <a:ext cx="10561320" cy="777240"/>
          </a:xfrm>
          <a:prstGeom prst="roundRect">
            <a:avLst>
              <a:gd name="adj" fmla="val 9412"/>
            </a:avLst>
          </a:prstGeom>
          <a:solidFill>
            <a:srgbClr val="C9821A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623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có 1–3:  </a:t>
            </a:r>
            <a:pPr indent="0" marL="0">
              <a:buNone/>
            </a:pPr>
            <a:r>
              <a:rPr lang="en-US" sz="1500" b="1" dirty="0">
                <a:solidFill>
                  <a:srgbClr val="14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target vào từng ô cây KPI + xuất bảng 6 Rõ hoàn chỉnh cho 3–5 sáng kiến.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 · TRỤ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trụ năng lực tốt nghiệp (rubric 0–4)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6 nhóm năng lực chấm ở Cổng 1: trung bình 6 trụ ≥ 2.5 và không trụ nào = 0 mới đạt.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39242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67712"/>
            <a:ext cx="658368" cy="457200"/>
          </a:xfrm>
          <a:prstGeom prst="roundRect">
            <a:avLst>
              <a:gd name="adj" fmla="val 14000"/>
            </a:avLst>
          </a:prstGeom>
          <a:solidFill>
            <a:srgbClr val="58647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26771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23113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Hiểu &amp; dùng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257860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94436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khả năng &amp; giới hạn của AI; biết ra lệnh (prompt) và đánh giá kết quả.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8264" y="2011680"/>
            <a:ext cx="339242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4296" y="2267712"/>
            <a:ext cx="658368" cy="457200"/>
          </a:xfrm>
          <a:prstGeom prst="roundRect">
            <a:avLst>
              <a:gd name="adj" fmla="val 14000"/>
            </a:avLst>
          </a:prstGeom>
          <a:solidFill>
            <a:srgbClr val="586472"/>
          </a:solidFill>
          <a:ln/>
        </p:spPr>
      </p:sp>
      <p:sp>
        <p:nvSpPr>
          <p:cNvPr id="13" name="Text 11"/>
          <p:cNvSpPr/>
          <p:nvPr/>
        </p:nvSpPr>
        <p:spPr>
          <a:xfrm>
            <a:off x="4654296" y="226771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9824" y="223113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Uỷ quyền cho 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9824" y="257860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Delegation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72584" y="294436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việc cho AI đúng mức (thang L0–L5); cân rủi ro với việc AI làm được.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56448" y="2011680"/>
            <a:ext cx="339242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2267712"/>
            <a:ext cx="658368" cy="457200"/>
          </a:xfrm>
          <a:prstGeom prst="roundRect">
            <a:avLst>
              <a:gd name="adj" fmla="val 14000"/>
            </a:avLst>
          </a:prstGeom>
          <a:solidFill>
            <a:srgbClr val="586472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26771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08008" y="223113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luồng việc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08008" y="257860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Design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30768" y="294436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&amp; xếp việc người + AI thành quy trình chạy được từ đầu đến cuối.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343400"/>
            <a:ext cx="339242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4599432"/>
            <a:ext cx="658368" cy="457200"/>
          </a:xfrm>
          <a:prstGeom prst="roundRect">
            <a:avLst>
              <a:gd name="adj" fmla="val 14000"/>
            </a:avLst>
          </a:prstGeom>
          <a:solidFill>
            <a:srgbClr val="586472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459943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91640" y="456285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trị &amp; rủi ro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91640" y="491032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527608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người kiểm soát; bảo mật; AI không tự push/merge, không đụng dữ liệu bí mật.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98264" y="4343400"/>
            <a:ext cx="339242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54296" y="4599432"/>
            <a:ext cx="658368" cy="457200"/>
          </a:xfrm>
          <a:prstGeom prst="roundRect">
            <a:avLst>
              <a:gd name="adj" fmla="val 14000"/>
            </a:avLst>
          </a:prstGeom>
          <a:solidFill>
            <a:srgbClr val="586472"/>
          </a:solidFill>
          <a:ln/>
        </p:spPr>
      </p:sp>
      <p:sp>
        <p:nvSpPr>
          <p:cNvPr id="31" name="Text 29"/>
          <p:cNvSpPr/>
          <p:nvPr/>
        </p:nvSpPr>
        <p:spPr>
          <a:xfrm>
            <a:off x="4654296" y="459943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9824" y="456285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Đo lường chỉ số AI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49824" y="491032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Economics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72584" y="527608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năng suất bằng telemetry (giờ, token, Nén); quyết định theo chi phí/ROI.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56448" y="4343400"/>
            <a:ext cx="339242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4DA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412480" y="4599432"/>
            <a:ext cx="658368" cy="457200"/>
          </a:xfrm>
          <a:prstGeom prst="roundRect">
            <a:avLst>
              <a:gd name="adj" fmla="val 14000"/>
            </a:avLst>
          </a:prstGeom>
          <a:solidFill>
            <a:srgbClr val="586472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59943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208008" y="456285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Dẫn dắt theo kết quả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208008" y="491032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Leadership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430768" y="5276088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Lái đội người + AI về đích business (margin, win rate), không chỉ xong việc.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(1/2) — khái niệm &amp; chỉ số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Thuật ngữ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Giải thích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Transformation — chuyển đổi ứng dụng AI cho đơn vị.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Rõ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Chuẩn FPT: rõ bài toán, nhiệm vụ, thời hạn, kết quả, người phụ trách, ngân sách.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Biên lợi nhuận của dự án — kết quả kinh doanh chính của Trụ 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thắng thầu/deal — kết quả kinh doanh chính của Trụ 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 / Lagging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 dẫn dắt (lái sớm được) vs chỉ số kết quả (đến sau).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Mốc số liệu gốc trước khi áp dụng AI, để đo phần AI đóng góp.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quy phần kết quả thực sự do AI tạo ra (dùng nhóm đối chứng).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người thực sự dùng AI đều đặn (VD %/tuần).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Nén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Giờ làm truyền thống ÷ giờ làm thật với AI — KPI năng suất cốt lõi của Trụ 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Dữ liệu đo tự động (giờ, token, số lần sửa lại…) để chứng minh năng suất AI.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Thang trưởng thành AI 5 cấp của FPT: Curious · Augmented · Standard · Automated · Native.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Thử nghiệm có kiểm soát trên phạm vi nhỏ trước khi nhân rộng.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Bộ quy trình/hướng dẫn chuẩn hoá để nhân rộng cách làm.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Đồ án tốt nghiệp “Build your Customer Zero”: cặp người + AI dựng 1 hệ thống chạy được.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Buổi vấn đáp/bảo vệ: hỏi sâu để kiểm tra học viên thực sự hiểu, không duyệt cho qua.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 kinh doanh cuối cùng (margin, win rate) mà sáng kiến nhắm tới.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(2/2) — từ viết tắt &amp; tiếng Anh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Từ viết tắt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Giải thích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vị được phụ trách AIX (điền tên/định nghĩa chính xác sau).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/ BA / 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 / Business Analyst / Solution Architect.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— lập trình viên.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Assurance — kiểm thử / đảm bảo chất lượng.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Request — yêu cầu gộp code, để review trước khi nhập vào nhánh chính (merge).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Performance Indicator — chỉ số đo hiệu quả then chốt.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Concept — bản chạy thử để chứng minh giá trị trước khi lên production.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/ 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Point (đơn vị khối lượng việc) / Man-Day (người-ngày).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Uplift SP/MD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 tăng năng suất: story point tạo ra trên mỗi man-day.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ODC / ODCx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Offshore Development Center / mô hình ODC theo kết quả (outcome-based).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Gói sản phẩm/dịch vụ mang đi bán cho khách hàng.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Khâu thực thi &amp; giao hàng dự án (Trụ A).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trị: chính sách tool/bản quyền/bảo mật, cách đo &amp; ngân sách.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 theo dõi số liệu trực quan.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Lĩnh vực/ngành nghiệp vụ (VD sub-domain automotive).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 — ước lượng công sức/chi phí theo cách truyền thống (chưa dùng AI).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Đợt học viên tham gia đào tạo (VD Batch 1–5).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AIX cho FA — Khung kế hoạch tới hết 2026</dc:title>
  <dc:subject>PptxGenJS Presentation</dc:subject>
  <dc:creator>AIX FA</dc:creator>
  <cp:lastModifiedBy>AIX FA</cp:lastModifiedBy>
  <cp:revision>1</cp:revision>
  <dcterms:created xsi:type="dcterms:W3CDTF">2026-07-08T05:56:45Z</dcterms:created>
  <dcterms:modified xsi:type="dcterms:W3CDTF">2026-07-08T05:56:45Z</dcterms:modified>
</cp:coreProperties>
</file>